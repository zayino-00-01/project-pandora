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建议讲述时间：0.5分钟。</a:t>
            </a:r>
          </a:p>
          <a:p/>
          <a:p>
            <a:r>
              <a:t>各位老师好，本次汇报围绕潘多拉智能掌上工作系统的需求分析与产品设计方案展开。项目目前处于 Sprint 0 阶段，已形成需求与设计初稿，并保留了 PR 审阅、周报和会议纪要，项目管理看板仍需完善。本次重点说明最小可用产品范围、核心业务规则、技术架构与迭代计划，首个 MVP 已确定为员工日志录入与上级 Web 授权查询，计划在 Sprint 1 完成。后续将同步需求文档、接口规格和开发任务。</a:t>
            </a:r>
          </a:p>
          <a:p/>
          <a:p>
            <a:r>
              <a:t>资料依据：课程项目要求；仓库需求、Backlog、OpenSpec；本次组内汇报方案。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建议讲述时间：1分钟。</a:t>
            </a:r>
          </a:p>
          <a:p/>
          <a:p>
            <a:r>
              <a:t>本项目面向企业内部员工、上级管理者与管理员，主要解决工作信息分散、进度查询不便和历史记录难以回溯的问题。员工通过系统记录日常工作，上级按成员和日期查询下属日志，管理员维护公司重要事项及必要的账号权限。以接口联调工作为例，员工将完成情况录入日志后，管理者可在权限范围内直接查询，减少从聊天记录和分散表格中检索信息的成本。该场景依据甲方材料提出，其业务适用性仍需在本次讨论中确认。</a:t>
            </a:r>
          </a:p>
          <a:p/>
          <a:p>
            <a:r>
              <a:t>资料依据：甲方 PDF 可见内容第 4、5、6、14、16 页；场景为本组拟定示例，尚未完成用户访谈。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建议讲述时间：1.2分钟。</a:t>
            </a:r>
          </a:p>
          <a:p/>
          <a:p>
            <a:r>
              <a:t>项目范围划分为首个 MVP、后续核心功能与可选扩展。首个 MVP 包含账号登录、日志录入、持久化保存、本人日志修改与查询及上级 Web 查询。Sprint 2 计划扩展任务派发、进度管理、公司事项、个人重要事项及日周月视图，向上邀约的处理规则需进一步明确。AI 分析、MBTI、跨公司匹配、复杂复核与高级统计图暂不纳入首轮开发，其后续实施范围按课程要求与项目进度管理。现有需求文档包含 25 条用户故事，后续将结合业务关联性、优先级与验收标准逐项评审。</a:t>
            </a:r>
          </a:p>
          <a:p/>
          <a:p>
            <a:r>
              <a:t>资料依据：课程项目要求；仓库需求、Backlog、OpenSpec；本次组内汇报方案。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建议讲述时间：1.8分钟。</a:t>
            </a:r>
          </a:p>
          <a:p/>
          <a:p>
            <a:r>
              <a:t>本项目首个 MVP 确定为员工日志录入与上级 Web 授权查询，计划在 Sprint 1 交付。功能包括账号登录、本人日志新建和修改、日志持久化保存、个人历史查询以及上级按人员和日期查询。员工在 Android 端录入工作内容，后端校验身份与字段后保存至数据库。员工重新登录后仍可查询，上级在 Web 端能够查询直属下属的同一条记录。首轮使用预置测试账号及上下级关系，完整注册和账号管理后续完善。验收覆盖输入校验、权限隔离以及保存后的查询一致性。任务派发、进度管理和复杂统计不纳入首个 MVP，避免首轮范围过大。</a:t>
            </a:r>
          </a:p>
          <a:p/>
          <a:p>
            <a:r>
              <a:t>资料依据：课程项目要求；仓库需求、Backlog、OpenSpec；本次组内汇报方案。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建议讲述时间：1.5分钟。</a:t>
            </a:r>
          </a:p>
          <a:p/>
          <a:p>
            <a:r>
              <a:t>本页为依据现有文字线框整理的核心界面低保真原型，用于确认页面结构与交互流程。员工日志列表展示日期和记录，并提供新建及修改入口；日志编辑页支持内容录入与保存，保存失败时应显示明确提示并保留输入；上级 Web 页面提供权限范围内的成员筛选、日期筛选及详情查询。页面内容均为原型示意，尚未形成运行界面。本次主要确认录入字段、查询条件及查看权限，四板块和日周月视图将在后续设计中继续细化。</a:t>
            </a:r>
          </a:p>
          <a:p/>
          <a:p>
            <a:r>
              <a:t>资料依据：仓库 docs/原型/低保真.md；本页为基于草稿重新整理的页面示意，示例内容不是实际用户数据。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建议讲述时间：1.2分钟。</a:t>
            </a:r>
          </a:p>
          <a:p/>
          <a:p>
            <a:r>
              <a:t>项目采用单体三层架构，Android 与 Web 共用后端接口和数据库。Android 采用 Kotlin 与 Jetpack Compose，Web 采用 Vue 3、Vite 与 Element Plus，后端采用 Java 17 与 Spring Boot 3，数据库采用 MySQL 8。该方案有利于五人团队集中完成核心业务集成，控制分布式部署与运维成本。接口通过 OpenAPI 定义，数据库结构通过 Flyway 管理，JWT 用于身份认证，BCrypt 用于密码哈希存储。首轮完成本地或局域网联调，持续集成和公网部署按后续进度实施。</a:t>
            </a:r>
          </a:p>
          <a:p/>
          <a:p>
            <a:r>
              <a:t>资料依据：课程项目要求；仓库需求、Backlog、OpenSpec；本次组内汇报方案。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建议讲述时间：1.3分钟。</a:t>
            </a:r>
          </a:p>
          <a:p/>
          <a:p>
            <a:r>
              <a:t>权限设计需要同时考虑角色能力与组织范围。仅设置领导角色无法确定其下属人员，因此在用户表设计中增加 manager_id，MVP 阶段支持直属上下级关系，跨层级查询另行评审。员工可创建和修改本人日志，上级在授权范围内只读查询，管理员承担必要的管理职责。日志规则采用保存后对授权上级可见、作者可修改的方式，以减少首轮状态管理复杂度。首轮不设置多级审批或提交审核流程，修改后两端查询最新记录。后续任务关联多人时，建议使用独立关联表。</a:t>
            </a:r>
          </a:p>
          <a:p/>
          <a:p>
            <a:r>
              <a:t>资料依据：课程项目要求；仓库需求、Backlog、OpenSpec；本次组内汇报方案。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建议讲述时间：1.2分钟。</a:t>
            </a:r>
          </a:p>
          <a:p/>
          <a:p>
            <a:r>
              <a:t>测试工作从 Sprint 1 开始，覆盖功能正确性、安全性与可靠性。功能验收包括日志录入、重新登录后查询及上级 Web 查询，并验证空正文等无效输入。安全性要求未登录或无效凭据访问返回 401，越权访问返回 403，数据权限由后端统一校验。可靠性要求已确认保存的日志在应用及后端重启后仍可查询，保存失败时不得误报成功，并保留输入供用户重试。以上为开发完成后的验收目标，当前尚未执行验证。测试记录应包含输入、预期结果、实际结果及关联提交或 change，缺陷通过 Issue 跟踪。</a:t>
            </a:r>
          </a:p>
          <a:p/>
          <a:p>
            <a:r>
              <a:t>资料依据：课程项目要求；仓库需求、Backlog、OpenSpec；本次组内汇报方案。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建议讲述时间：1分钟。</a:t>
            </a:r>
          </a:p>
          <a:p/>
          <a:p>
            <a:r>
              <a:t>当前已形成需求初版、25 条用户故事、架构与数据库草案、OpenAPI、OpenSpec 以及文字线框。团队同时保留了 PR 审阅、周报和会议纪要，可作为过程管理证据。上述设计材料仍需进一步评审，飞书看板及任务关联尚待完善。下一步将已确定的 MVP 范围与业务规则同步至需求和规格文件，并统一迭代排期，将上级日志查询及 Web 日志查询安排至 Sprint 1。评审结论将同步至产品文档、Backlog、OpenSpec 和飞书看板，确保需求、设计与开发任务一致。</a:t>
            </a:r>
          </a:p>
          <a:p/>
          <a:p>
            <a:r>
              <a:t>资料依据：本地仓库文件；用户在本次对话中确认已有 PR 审阅、周报和会议纪要，飞书看板未建好。线上记录未由本次制作核验。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建议讲述时间：1分钟。</a:t>
            </a:r>
          </a:p>
          <a:p/>
          <a:p>
            <a:r>
              <a:t>项目按照课程周次组织迭代。Sprint 0 完成需求评审、核心原型、接口与数据模型设计以及看板建设。Sprint 1 实现日志录入、持久化保存和授权查询的完整流程。Sprint 2 扩展任务派发、进度管理、四板块及日周月视图，邀约功能依据确认后的规则实施。Sprint 3 重点开展缺陷修复、系统集成测试与两项非功能需求验证。第 15 至 16 周完成发布、演示视频和答辩材料。范围调整将结合实际工作量进行评审，优先保证核心业务与验证证据的完整性。</a:t>
            </a:r>
          </a:p>
          <a:p/>
          <a:p>
            <a:r>
              <a:t>资料依据：课程项目要求；仓库需求、Backlog、OpenSpec；本次组内汇报方案。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建议讲述时间：1.2分钟。</a:t>
            </a:r>
          </a:p>
          <a:p/>
          <a:p>
            <a:r>
              <a:t>团队按业务模块划分开发职责，并由全体成员承担相应测试任务。成员 A 负责账号、身份认证、组织权限及过程协调；成员 B 负责日志与任务接口、数据库迁移和业务单元测试；成员 C 负责 Android 工程、登录接入、日志及四板块，并承担移动端冒烟测试；成员 D 负责日周月视图，在 Sprint 1 参与个人日志查询或日视图开发，并协调双端集成测试；成员 E 负责 Web 登录、下属日志、公司事项和任务页面及 Web 验收。接口由后端与端侧负责人共同评审，合并前保留非作者审阅记录。</a:t>
            </a:r>
          </a:p>
          <a:p/>
          <a:p>
            <a:r>
              <a:t>资料依据：课程项目要求；仓库需求、Backlog、OpenSpec；本次组内汇报方案。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建议讲述时间：1分钟。</a:t>
            </a:r>
          </a:p>
          <a:p/>
          <a:p>
            <a:r>
              <a:t>本阶段已确定首个 MVP 的功能范围和技术方案。Sprint 1 完成员工日志录入、保存、本人查询及上级 Web 授权查询，任务派发和进度管理在 Sprint 2 实现。接下来有四项工作：第一，将 MVP 范围和业务规则同步至产品文档、Backlog 与 OpenSpec；第二，细化日志、权限与查询接口及对应数据约束；第三，完成飞书看板，落实负责人、迭代和验收证据的关联；第四，按职责建立开发工程和测试用例，完成双端联调准备。项目以可运行的业务流程和实际测试记录作为后续验收依据。</a:t>
            </a:r>
          </a:p>
          <a:p/>
          <a:p>
            <a:r>
              <a:t>资料依据：课程项目要求；仓库需求、Backlog、OpenSpec；本次组内汇报方案。</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8" name="text-1"/>
          <p:cNvSpPr>
            <a:spLocks noGrp="1"/>
          </p:cNvSpPr>
          <p:nvPr/>
        </p:nvSpPr>
        <p:spPr>
          <a:xfrm>
            <a:off x="609600" y="381000"/>
            <a:ext cx="10972800" cy="609600"/>
          </a:xfrm>
          <a:prstGeom prst="rect">
            <a:avLst/>
          </a:prstGeom>
          <a:noFill/>
          <a:ln w="0">
            <a:noFill/>
          </a:ln>
        </p:spPr>
        <p:txBody>
          <a:bodyPr>
            <a:noAutofit/>
          </a:bodyPr>
          <a:lstStyle/>
          <a:p>
            <a:pPr algn="l">
              <a:defRPr sz="3225" b="1">
                <a:solidFill>
                  <a:srgbClr val="172D3B"/>
                </a:solidFill>
                <a:latin typeface="微软雅黑" panose="020B0503020204020204" charset="-122"/>
                <a:ea typeface="微软雅黑" panose="020B0503020204020204" charset="-122"/>
                <a:cs typeface="微软雅黑" panose="020B0503020204020204" charset="-122"/>
              </a:defRPr>
            </a:pPr>
            <a:r>
              <a:rPr sz="3225" b="1">
                <a:solidFill>
                  <a:srgbClr val="172D3B"/>
                </a:solidFill>
                <a:latin typeface="微软雅黑" panose="020B0503020204020204" charset="-122"/>
                <a:ea typeface="微软雅黑" panose="020B0503020204020204" charset="-122"/>
                <a:cs typeface="微软雅黑" panose="020B0503020204020204" charset="-122"/>
              </a:rPr>
              <a:t>潘多拉智能掌上工作系统</a:t>
            </a:r>
            <a:endParaRPr sz="322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2" name="text-2"/>
          <p:cNvSpPr>
            <a:spLocks noGrp="1"/>
          </p:cNvSpPr>
          <p:nvPr/>
        </p:nvSpPr>
        <p:spPr>
          <a:xfrm>
            <a:off x="628650" y="1057275"/>
            <a:ext cx="10934700" cy="4572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Sprint 0 需求分析与产品设计汇报</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3" name="text-3"/>
          <p:cNvSpPr>
            <a:spLocks noGrp="1"/>
          </p:cNvSpPr>
          <p:nvPr/>
        </p:nvSpPr>
        <p:spPr>
          <a:xfrm>
            <a:off x="10953750" y="6419850"/>
            <a:ext cx="590550" cy="238125"/>
          </a:xfrm>
          <a:prstGeom prst="rect">
            <a:avLst/>
          </a:prstGeom>
          <a:noFill/>
          <a:ln w="0">
            <a:noFill/>
          </a:ln>
        </p:spPr>
        <p:txBody>
          <a:bodyPr>
            <a:noAutofit/>
          </a:bodyPr>
          <a:lstStyle/>
          <a:p>
            <a:pPr algn="r">
              <a:defRPr sz="1275" b="0">
                <a:solidFill>
                  <a:srgbClr val="576873"/>
                </a:solidFill>
                <a:latin typeface="微软雅黑" panose="020B0503020204020204" charset="-122"/>
                <a:ea typeface="微软雅黑" panose="020B0503020204020204" charset="-122"/>
                <a:cs typeface="微软雅黑" panose="020B0503020204020204" charset="-122"/>
              </a:defRPr>
            </a:pPr>
            <a:r>
              <a:rPr sz="1275" b="0">
                <a:solidFill>
                  <a:srgbClr val="576873"/>
                </a:solidFill>
                <a:latin typeface="微软雅黑" panose="020B0503020204020204" charset="-122"/>
                <a:ea typeface="微软雅黑" panose="020B0503020204020204" charset="-122"/>
                <a:cs typeface="微软雅黑" panose="020B0503020204020204" charset="-122"/>
              </a:rPr>
              <a:t>01</a:t>
            </a:r>
            <a:endParaRPr sz="127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4" name="text-4"/>
          <p:cNvSpPr>
            <a:spLocks noGrp="1"/>
          </p:cNvSpPr>
          <p:nvPr/>
        </p:nvSpPr>
        <p:spPr>
          <a:xfrm>
            <a:off x="628650" y="2390775"/>
            <a:ext cx="10763250" cy="800100"/>
          </a:xfrm>
          <a:prstGeom prst="rect">
            <a:avLst/>
          </a:prstGeom>
          <a:noFill/>
          <a:ln w="0">
            <a:noFill/>
          </a:ln>
        </p:spPr>
        <p:txBody>
          <a:bodyPr>
            <a:noAutofit/>
          </a:bodyPr>
          <a:lstStyle/>
          <a:p>
            <a:pPr algn="l">
              <a:defRPr sz="3975" b="1">
                <a:solidFill>
                  <a:srgbClr val="087F82"/>
                </a:solidFill>
                <a:latin typeface="微软雅黑" panose="020B0503020204020204" charset="-122"/>
                <a:ea typeface="微软雅黑" panose="020B0503020204020204" charset="-122"/>
                <a:cs typeface="微软雅黑" panose="020B0503020204020204" charset="-122"/>
              </a:defRPr>
            </a:pPr>
            <a:r>
              <a:rPr sz="3975" b="1">
                <a:solidFill>
                  <a:srgbClr val="087F82"/>
                </a:solidFill>
                <a:latin typeface="微软雅黑" panose="020B0503020204020204" charset="-122"/>
                <a:ea typeface="微软雅黑" panose="020B0503020204020204" charset="-122"/>
                <a:cs typeface="微软雅黑" panose="020B0503020204020204" charset="-122"/>
              </a:rPr>
              <a:t>需求分析与产品设计方案</a:t>
            </a:r>
            <a:endParaRPr sz="397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5" name="text-5"/>
          <p:cNvSpPr>
            <a:spLocks noGrp="1"/>
          </p:cNvSpPr>
          <p:nvPr/>
        </p:nvSpPr>
        <p:spPr>
          <a:xfrm>
            <a:off x="647700" y="3505200"/>
            <a:ext cx="10668000" cy="571500"/>
          </a:xfrm>
          <a:prstGeom prst="rect">
            <a:avLst/>
          </a:prstGeom>
          <a:noFill/>
          <a:ln w="0">
            <a:noFill/>
          </a:ln>
        </p:spPr>
        <p:txBody>
          <a:bodyPr>
            <a:noAutofit/>
          </a:bodyPr>
          <a:lstStyle/>
          <a:p>
            <a:pPr algn="l">
              <a:defRPr sz="2250" b="0">
                <a:solidFill>
                  <a:srgbClr val="172D3B"/>
                </a:solidFill>
                <a:latin typeface="微软雅黑" panose="020B0503020204020204" charset="-122"/>
                <a:ea typeface="微软雅黑" panose="020B0503020204020204" charset="-122"/>
                <a:cs typeface="微软雅黑" panose="020B0503020204020204" charset="-122"/>
              </a:defRPr>
            </a:pPr>
            <a:r>
              <a:rPr sz="2250" b="0">
                <a:solidFill>
                  <a:srgbClr val="172D3B"/>
                </a:solidFill>
                <a:latin typeface="微软雅黑" panose="020B0503020204020204" charset="-122"/>
                <a:ea typeface="微软雅黑" panose="020B0503020204020204" charset="-122"/>
                <a:cs typeface="微软雅黑" panose="020B0503020204020204" charset="-122"/>
              </a:rPr>
              <a:t>汇报内容：产品范围、业务规则与迭代计划</a:t>
            </a:r>
            <a:endParaRPr sz="2250" b="0">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6" name="text-6"/>
          <p:cNvSpPr>
            <a:spLocks noGrp="1"/>
          </p:cNvSpPr>
          <p:nvPr/>
        </p:nvSpPr>
        <p:spPr>
          <a:xfrm>
            <a:off x="647700" y="4371975"/>
            <a:ext cx="10668000" cy="590550"/>
          </a:xfrm>
          <a:prstGeom prst="rect">
            <a:avLst/>
          </a:prstGeom>
          <a:noFill/>
          <a:ln w="0">
            <a:noFill/>
          </a:ln>
        </p:spPr>
        <p:txBody>
          <a:bodyPr>
            <a:noAutofit/>
          </a:bodyPr>
          <a:lstStyle/>
          <a:p>
            <a:pPr algn="l">
              <a:defRPr sz="1875" b="0">
                <a:solidFill>
                  <a:srgbClr val="576873"/>
                </a:solidFill>
                <a:latin typeface="微软雅黑" panose="020B0503020204020204" charset="-122"/>
                <a:ea typeface="微软雅黑" panose="020B0503020204020204" charset="-122"/>
                <a:cs typeface="微软雅黑" panose="020B0503020204020204" charset="-122"/>
              </a:defRPr>
            </a:pPr>
            <a:r>
              <a:rPr sz="1875" b="0">
                <a:solidFill>
                  <a:srgbClr val="576873"/>
                </a:solidFill>
                <a:latin typeface="微软雅黑" panose="020B0503020204020204" charset="-122"/>
                <a:ea typeface="微软雅黑" panose="020B0503020204020204" charset="-122"/>
                <a:cs typeface="微软雅黑" panose="020B0503020204020204" charset="-122"/>
              </a:rPr>
              <a:t>首版目标：实现工作日志录入、持久化保存与双端授权查询。</a:t>
            </a:r>
            <a:endParaRPr sz="187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7" name="text-7"/>
          <p:cNvSpPr>
            <a:spLocks noGrp="1"/>
          </p:cNvSpPr>
          <p:nvPr/>
        </p:nvSpPr>
        <p:spPr>
          <a:xfrm>
            <a:off x="647700" y="5372100"/>
            <a:ext cx="9525000" cy="381000"/>
          </a:xfrm>
          <a:prstGeom prst="rect">
            <a:avLst/>
          </a:prstGeom>
          <a:noFill/>
          <a:ln w="0">
            <a:noFill/>
          </a:ln>
        </p:spPr>
        <p:txBody>
          <a:bodyPr>
            <a:noAutofit/>
          </a:bodyPr>
          <a:lstStyle/>
          <a:p>
            <a:pPr algn="l">
              <a:defRPr sz="1650" b="0">
                <a:solidFill>
                  <a:srgbClr val="576873"/>
                </a:solidFill>
                <a:latin typeface="微软雅黑" panose="020B0503020204020204" charset="-122"/>
                <a:ea typeface="微软雅黑" panose="020B0503020204020204" charset="-122"/>
                <a:cs typeface="微软雅黑" panose="020B0503020204020204" charset="-122"/>
              </a:defRPr>
            </a:pPr>
            <a:r>
              <a:rPr sz="1650" b="0">
                <a:solidFill>
                  <a:srgbClr val="576873"/>
                </a:solidFill>
                <a:latin typeface="微软雅黑" panose="020B0503020204020204" charset="-122"/>
                <a:ea typeface="微软雅黑" panose="020B0503020204020204" charset="-122"/>
                <a:cs typeface="微软雅黑" panose="020B0503020204020204" charset="-122"/>
              </a:rPr>
              <a:t>项目成员</a:t>
            </a:r>
            <a:r>
              <a:rPr lang="zh-CN" sz="1650" b="0">
                <a:solidFill>
                  <a:srgbClr val="576873"/>
                </a:solidFill>
                <a:latin typeface="微软雅黑" panose="020B0503020204020204" charset="-122"/>
                <a:ea typeface="微软雅黑" panose="020B0503020204020204" charset="-122"/>
                <a:cs typeface="微软雅黑" panose="020B0503020204020204" charset="-122"/>
              </a:rPr>
              <a:t>：唐高鹏、牛雨昊、汪士涵、祝霖瑞、刘彭</a:t>
            </a:r>
            <a:r>
              <a:rPr lang="zh-CN" sz="1650" b="0">
                <a:solidFill>
                  <a:srgbClr val="576873"/>
                </a:solidFill>
                <a:latin typeface="微软雅黑" panose="020B0503020204020204" charset="-122"/>
                <a:ea typeface="微软雅黑" panose="020B0503020204020204" charset="-122"/>
                <a:cs typeface="微软雅黑" panose="020B0503020204020204" charset="-122"/>
              </a:rPr>
              <a:t>潮</a:t>
            </a:r>
            <a:endParaRPr lang="zh-CN" sz="1650" b="0">
              <a:solidFill>
                <a:srgbClr val="57687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8" name="text-8"/>
          <p:cNvSpPr>
            <a:spLocks noGrp="1"/>
          </p:cNvSpPr>
          <p:nvPr/>
        </p:nvSpPr>
        <p:spPr>
          <a:xfrm>
            <a:off x="609600" y="381000"/>
            <a:ext cx="10972800" cy="609600"/>
          </a:xfrm>
          <a:prstGeom prst="rect">
            <a:avLst/>
          </a:prstGeom>
          <a:noFill/>
          <a:ln w="0">
            <a:noFill/>
          </a:ln>
        </p:spPr>
        <p:txBody>
          <a:bodyPr>
            <a:noAutofit/>
          </a:bodyPr>
          <a:lstStyle/>
          <a:p>
            <a:pPr algn="l">
              <a:defRPr sz="3225" b="1">
                <a:solidFill>
                  <a:srgbClr val="172D3B"/>
                </a:solidFill>
                <a:latin typeface="微软雅黑" panose="020B0503020204020204" charset="-122"/>
                <a:ea typeface="微软雅黑" panose="020B0503020204020204" charset="-122"/>
                <a:cs typeface="微软雅黑" panose="020B0503020204020204" charset="-122"/>
              </a:defRPr>
            </a:pPr>
            <a:r>
              <a:rPr sz="3225" b="1">
                <a:solidFill>
                  <a:srgbClr val="172D3B"/>
                </a:solidFill>
                <a:latin typeface="微软雅黑" panose="020B0503020204020204" charset="-122"/>
                <a:ea typeface="微软雅黑" panose="020B0503020204020204" charset="-122"/>
                <a:cs typeface="微软雅黑" panose="020B0503020204020204" charset="-122"/>
              </a:rPr>
              <a:t>目标用户与工作场景</a:t>
            </a:r>
            <a:endParaRPr sz="322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2" name="text-9"/>
          <p:cNvSpPr>
            <a:spLocks noGrp="1"/>
          </p:cNvSpPr>
          <p:nvPr/>
        </p:nvSpPr>
        <p:spPr>
          <a:xfrm>
            <a:off x="628650" y="1057275"/>
            <a:ext cx="10934700" cy="4572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第一阶段面向企业内部员工、上级管理者与管理员</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3" name="text-10"/>
          <p:cNvSpPr>
            <a:spLocks noGrp="1"/>
          </p:cNvSpPr>
          <p:nvPr/>
        </p:nvSpPr>
        <p:spPr>
          <a:xfrm>
            <a:off x="10953750" y="6419850"/>
            <a:ext cx="590550" cy="238125"/>
          </a:xfrm>
          <a:prstGeom prst="rect">
            <a:avLst/>
          </a:prstGeom>
          <a:noFill/>
          <a:ln w="0">
            <a:noFill/>
          </a:ln>
        </p:spPr>
        <p:txBody>
          <a:bodyPr>
            <a:noAutofit/>
          </a:bodyPr>
          <a:lstStyle/>
          <a:p>
            <a:pPr algn="r">
              <a:defRPr sz="1275" b="0">
                <a:solidFill>
                  <a:srgbClr val="576873"/>
                </a:solidFill>
                <a:latin typeface="微软雅黑" panose="020B0503020204020204" charset="-122"/>
                <a:ea typeface="微软雅黑" panose="020B0503020204020204" charset="-122"/>
                <a:cs typeface="微软雅黑" panose="020B0503020204020204" charset="-122"/>
              </a:defRPr>
            </a:pPr>
            <a:r>
              <a:rPr sz="1275" b="0">
                <a:solidFill>
                  <a:srgbClr val="576873"/>
                </a:solidFill>
                <a:latin typeface="微软雅黑" panose="020B0503020204020204" charset="-122"/>
                <a:ea typeface="微软雅黑" panose="020B0503020204020204" charset="-122"/>
                <a:cs typeface="微软雅黑" panose="020B0503020204020204" charset="-122"/>
              </a:rPr>
              <a:t>02</a:t>
            </a:r>
            <a:endParaRPr sz="1275" b="0">
              <a:solidFill>
                <a:srgbClr val="576873"/>
              </a:solidFill>
              <a:latin typeface="微软雅黑" panose="020B0503020204020204" charset="-122"/>
              <a:ea typeface="微软雅黑" panose="020B0503020204020204" charset="-122"/>
              <a:cs typeface="微软雅黑" panose="020B0503020204020204" charset="-122"/>
            </a:endParaRPr>
          </a:p>
        </p:txBody>
      </p:sp>
      <p:graphicFrame>
        <p:nvGraphicFramePr>
          <p:cNvPr id="11" name="表格 10"/>
          <p:cNvGraphicFramePr/>
          <p:nvPr/>
        </p:nvGraphicFramePr>
        <p:xfrm>
          <a:off x="609600" y="1790700"/>
          <a:ext cx="10972800" cy="2933700"/>
        </p:xfrm>
        <a:graphic>
          <a:graphicData uri="http://schemas.openxmlformats.org/drawingml/2006/table">
            <a:tbl>
              <a:tblPr/>
              <a:tblGrid>
                <a:gridCol w="1619250"/>
                <a:gridCol w="4286250"/>
                <a:gridCol w="5067300"/>
              </a:tblGrid>
              <a:tr h="733425">
                <a:tc>
                  <a:txBody>
                    <a:bodyPr>
                      <a:spAutoFit/>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用户</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c>
                  <a:txBody>
                    <a:bodyPr>
                      <a:spAutoFit/>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当前问题</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c>
                  <a:txBody>
                    <a:bodyPr>
                      <a:spAutoFit/>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核心业务需求</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r>
              <a:tr h="733425">
                <a:tc>
                  <a:txBody>
                    <a:bodyPr>
                      <a:spAutoFit/>
                    </a:bodyPr>
                    <a:lstStyle/>
                    <a:p>
                      <a:r>
                        <a:rPr sz="1875" b="0">
                          <a:solidFill>
                            <a:srgbClr val="172D3B"/>
                          </a:solidFill>
                          <a:latin typeface="微软雅黑" panose="020B0503020204020204" charset="-122"/>
                          <a:ea typeface="微软雅黑" panose="020B0503020204020204" charset="-122"/>
                          <a:cs typeface="微软雅黑" panose="020B0503020204020204" charset="-122"/>
                        </a:rPr>
                        <a:t>员工</a:t>
                      </a:r>
                      <a:endParaRPr sz="187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75" b="0">
                          <a:solidFill>
                            <a:srgbClr val="172D3B"/>
                          </a:solidFill>
                          <a:latin typeface="微软雅黑" panose="020B0503020204020204" charset="-122"/>
                          <a:ea typeface="微软雅黑" panose="020B0503020204020204" charset="-122"/>
                          <a:cs typeface="微软雅黑" panose="020B0503020204020204" charset="-122"/>
                        </a:rPr>
                        <a:t>工作记录分散，历史检索不便</a:t>
                      </a:r>
                      <a:endParaRPr sz="187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75" b="0">
                          <a:solidFill>
                            <a:srgbClr val="172D3B"/>
                          </a:solidFill>
                          <a:latin typeface="微软雅黑" panose="020B0503020204020204" charset="-122"/>
                          <a:ea typeface="微软雅黑" panose="020B0503020204020204" charset="-122"/>
                          <a:cs typeface="微软雅黑" panose="020B0503020204020204" charset="-122"/>
                        </a:rPr>
                        <a:t>录入工作日志，查询个人任务与记录</a:t>
                      </a:r>
                      <a:endParaRPr sz="187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733425">
                <a:tc>
                  <a:txBody>
                    <a:bodyPr>
                      <a:spAutoFit/>
                    </a:bodyPr>
                    <a:lstStyle/>
                    <a:p>
                      <a:r>
                        <a:rPr sz="1875" b="0">
                          <a:solidFill>
                            <a:srgbClr val="172D3B"/>
                          </a:solidFill>
                          <a:latin typeface="微软雅黑" panose="020B0503020204020204" charset="-122"/>
                          <a:ea typeface="微软雅黑" panose="020B0503020204020204" charset="-122"/>
                          <a:cs typeface="微软雅黑" panose="020B0503020204020204" charset="-122"/>
                        </a:rPr>
                        <a:t>上级</a:t>
                      </a:r>
                      <a:endParaRPr sz="187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c>
                  <a:txBody>
                    <a:bodyPr>
                      <a:spAutoFit/>
                    </a:bodyPr>
                    <a:lstStyle/>
                    <a:p>
                      <a:r>
                        <a:rPr sz="1875" b="0">
                          <a:solidFill>
                            <a:srgbClr val="172D3B"/>
                          </a:solidFill>
                          <a:latin typeface="微软雅黑" panose="020B0503020204020204" charset="-122"/>
                          <a:ea typeface="微软雅黑" panose="020B0503020204020204" charset="-122"/>
                          <a:cs typeface="微软雅黑" panose="020B0503020204020204" charset="-122"/>
                        </a:rPr>
                        <a:t>工作进度依赖人工询问</a:t>
                      </a:r>
                      <a:endParaRPr sz="187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c>
                  <a:txBody>
                    <a:bodyPr>
                      <a:spAutoFit/>
                    </a:bodyPr>
                    <a:lstStyle/>
                    <a:p>
                      <a:r>
                        <a:rPr sz="1875" b="0">
                          <a:solidFill>
                            <a:srgbClr val="172D3B"/>
                          </a:solidFill>
                          <a:latin typeface="微软雅黑" panose="020B0503020204020204" charset="-122"/>
                          <a:ea typeface="微软雅黑" panose="020B0503020204020204" charset="-122"/>
                          <a:cs typeface="微软雅黑" panose="020B0503020204020204" charset="-122"/>
                        </a:rPr>
                        <a:t>按成员与日期查询下属工作记录</a:t>
                      </a:r>
                      <a:endParaRPr sz="187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r>
              <a:tr h="733425">
                <a:tc>
                  <a:txBody>
                    <a:bodyPr>
                      <a:spAutoFit/>
                    </a:bodyPr>
                    <a:lstStyle/>
                    <a:p>
                      <a:r>
                        <a:rPr sz="1875" b="0">
                          <a:solidFill>
                            <a:srgbClr val="172D3B"/>
                          </a:solidFill>
                          <a:latin typeface="微软雅黑" panose="020B0503020204020204" charset="-122"/>
                          <a:ea typeface="微软雅黑" panose="020B0503020204020204" charset="-122"/>
                          <a:cs typeface="微软雅黑" panose="020B0503020204020204" charset="-122"/>
                        </a:rPr>
                        <a:t>管理员</a:t>
                      </a:r>
                      <a:endParaRPr sz="187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75" b="0">
                          <a:solidFill>
                            <a:srgbClr val="172D3B"/>
                          </a:solidFill>
                          <a:latin typeface="微软雅黑" panose="020B0503020204020204" charset="-122"/>
                          <a:ea typeface="微软雅黑" panose="020B0503020204020204" charset="-122"/>
                          <a:cs typeface="微软雅黑" panose="020B0503020204020204" charset="-122"/>
                        </a:rPr>
                        <a:t>公司重点事项缺少统一入口</a:t>
                      </a:r>
                      <a:endParaRPr sz="187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75" b="0">
                          <a:solidFill>
                            <a:srgbClr val="172D3B"/>
                          </a:solidFill>
                          <a:latin typeface="微软雅黑" panose="020B0503020204020204" charset="-122"/>
                          <a:ea typeface="微软雅黑" panose="020B0503020204020204" charset="-122"/>
                          <a:cs typeface="微软雅黑" panose="020B0503020204020204" charset="-122"/>
                        </a:rPr>
                        <a:t>维护公司事项和必要的账号权限</a:t>
                      </a:r>
                      <a:endParaRPr sz="187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5" name="text-11"/>
          <p:cNvSpPr>
            <a:spLocks noGrp="1"/>
          </p:cNvSpPr>
          <p:nvPr/>
        </p:nvSpPr>
        <p:spPr>
          <a:xfrm>
            <a:off x="628650" y="5191125"/>
            <a:ext cx="10668000" cy="400050"/>
          </a:xfrm>
          <a:prstGeom prst="rect">
            <a:avLst/>
          </a:prstGeom>
          <a:noFill/>
          <a:ln w="0">
            <a:noFill/>
          </a:ln>
        </p:spPr>
        <p:txBody>
          <a:bodyPr>
            <a:noAutofit/>
          </a:bodyPr>
          <a:lstStyle/>
          <a:p>
            <a:pPr algn="l">
              <a:defRPr sz="2100" b="1">
                <a:solidFill>
                  <a:srgbClr val="087F82"/>
                </a:solidFill>
                <a:latin typeface="微软雅黑" panose="020B0503020204020204" charset="-122"/>
                <a:ea typeface="微软雅黑" panose="020B0503020204020204" charset="-122"/>
                <a:cs typeface="微软雅黑" panose="020B0503020204020204" charset="-122"/>
              </a:defRPr>
            </a:pPr>
            <a:r>
              <a:rPr sz="2100" b="1">
                <a:solidFill>
                  <a:srgbClr val="087F82"/>
                </a:solidFill>
                <a:latin typeface="微软雅黑" panose="020B0503020204020204" charset="-122"/>
                <a:ea typeface="微软雅黑" panose="020B0503020204020204" charset="-122"/>
                <a:cs typeface="微软雅黑" panose="020B0503020204020204" charset="-122"/>
              </a:rPr>
              <a:t>现有替代方案：即时通信与工作表格</a:t>
            </a:r>
            <a:endParaRPr sz="2100"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6" name="text-12"/>
          <p:cNvSpPr>
            <a:spLocks noGrp="1"/>
          </p:cNvSpPr>
          <p:nvPr/>
        </p:nvSpPr>
        <p:spPr>
          <a:xfrm>
            <a:off x="628650" y="5629275"/>
            <a:ext cx="10668000" cy="371475"/>
          </a:xfrm>
          <a:prstGeom prst="rect">
            <a:avLst/>
          </a:prstGeom>
          <a:noFill/>
          <a:ln w="0">
            <a:noFill/>
          </a:ln>
        </p:spPr>
        <p:txBody>
          <a:bodyPr>
            <a:noAutofit/>
          </a:bodyPr>
          <a:lstStyle/>
          <a:p>
            <a:pPr algn="l">
              <a:defRPr sz="1800" b="0">
                <a:solidFill>
                  <a:srgbClr val="576873"/>
                </a:solidFill>
                <a:latin typeface="微软雅黑" panose="020B0503020204020204" charset="-122"/>
                <a:ea typeface="微软雅黑" panose="020B0503020204020204" charset="-122"/>
                <a:cs typeface="微软雅黑" panose="020B0503020204020204" charset="-122"/>
              </a:defRPr>
            </a:pPr>
            <a:r>
              <a:rPr sz="1800" b="0">
                <a:solidFill>
                  <a:srgbClr val="576873"/>
                </a:solidFill>
                <a:latin typeface="微软雅黑" panose="020B0503020204020204" charset="-122"/>
                <a:ea typeface="微软雅黑" panose="020B0503020204020204" charset="-122"/>
                <a:cs typeface="微软雅黑" panose="020B0503020204020204" charset="-122"/>
              </a:rPr>
              <a:t>员工记录当日工作，上级按成员与日期查询，形成统一的工作信息入口。</a:t>
            </a:r>
            <a:endParaRPr sz="1800"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7" name="text-13"/>
          <p:cNvSpPr>
            <a:spLocks noGrp="1"/>
          </p:cNvSpPr>
          <p:nvPr/>
        </p:nvSpPr>
        <p:spPr>
          <a:xfrm>
            <a:off x="628650" y="6000750"/>
            <a:ext cx="10668000" cy="3429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相较分散的聊天与表格记录，系统提供固定字段、权限控制和历史追溯。</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7" name="text-14"/>
          <p:cNvSpPr>
            <a:spLocks noGrp="1"/>
          </p:cNvSpPr>
          <p:nvPr/>
        </p:nvSpPr>
        <p:spPr>
          <a:xfrm>
            <a:off x="609600" y="381000"/>
            <a:ext cx="10972800" cy="609600"/>
          </a:xfrm>
          <a:prstGeom prst="rect">
            <a:avLst/>
          </a:prstGeom>
          <a:noFill/>
          <a:ln w="0">
            <a:noFill/>
          </a:ln>
        </p:spPr>
        <p:txBody>
          <a:bodyPr>
            <a:noAutofit/>
          </a:bodyPr>
          <a:lstStyle/>
          <a:p>
            <a:pPr algn="l">
              <a:defRPr sz="3225" b="1">
                <a:solidFill>
                  <a:srgbClr val="172D3B"/>
                </a:solidFill>
                <a:latin typeface="微软雅黑" panose="020B0503020204020204" charset="-122"/>
                <a:ea typeface="微软雅黑" panose="020B0503020204020204" charset="-122"/>
                <a:cs typeface="微软雅黑" panose="020B0503020204020204" charset="-122"/>
              </a:defRPr>
            </a:pPr>
            <a:r>
              <a:rPr sz="3225" b="1">
                <a:solidFill>
                  <a:srgbClr val="172D3B"/>
                </a:solidFill>
                <a:latin typeface="微软雅黑" panose="020B0503020204020204" charset="-122"/>
                <a:ea typeface="微软雅黑" panose="020B0503020204020204" charset="-122"/>
                <a:cs typeface="微软雅黑" panose="020B0503020204020204" charset="-122"/>
              </a:rPr>
              <a:t>产品范围与实现优先级</a:t>
            </a:r>
            <a:endParaRPr sz="322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2" name="text-15"/>
          <p:cNvSpPr>
            <a:spLocks noGrp="1"/>
          </p:cNvSpPr>
          <p:nvPr/>
        </p:nvSpPr>
        <p:spPr>
          <a:xfrm>
            <a:off x="628650" y="1057275"/>
            <a:ext cx="10934700" cy="4572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首个 MVP 已确定，后续功能按照业务优先级分步实现</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3" name="text-16"/>
          <p:cNvSpPr>
            <a:spLocks noGrp="1"/>
          </p:cNvSpPr>
          <p:nvPr/>
        </p:nvSpPr>
        <p:spPr>
          <a:xfrm>
            <a:off x="10953750" y="6419850"/>
            <a:ext cx="590550" cy="238125"/>
          </a:xfrm>
          <a:prstGeom prst="rect">
            <a:avLst/>
          </a:prstGeom>
          <a:noFill/>
          <a:ln w="0">
            <a:noFill/>
          </a:ln>
        </p:spPr>
        <p:txBody>
          <a:bodyPr>
            <a:noAutofit/>
          </a:bodyPr>
          <a:lstStyle/>
          <a:p>
            <a:pPr algn="r">
              <a:defRPr sz="1275" b="0">
                <a:solidFill>
                  <a:srgbClr val="576873"/>
                </a:solidFill>
                <a:latin typeface="微软雅黑" panose="020B0503020204020204" charset="-122"/>
                <a:ea typeface="微软雅黑" panose="020B0503020204020204" charset="-122"/>
                <a:cs typeface="微软雅黑" panose="020B0503020204020204" charset="-122"/>
              </a:defRPr>
            </a:pPr>
            <a:r>
              <a:rPr sz="1275" b="0">
                <a:solidFill>
                  <a:srgbClr val="576873"/>
                </a:solidFill>
                <a:latin typeface="微软雅黑" panose="020B0503020204020204" charset="-122"/>
                <a:ea typeface="微软雅黑" panose="020B0503020204020204" charset="-122"/>
                <a:cs typeface="微软雅黑" panose="020B0503020204020204" charset="-122"/>
              </a:rPr>
              <a:t>03</a:t>
            </a:r>
            <a:endParaRPr sz="1275" b="0">
              <a:solidFill>
                <a:srgbClr val="576873"/>
              </a:solidFill>
              <a:latin typeface="微软雅黑" panose="020B0503020204020204" charset="-122"/>
              <a:ea typeface="微软雅黑" panose="020B0503020204020204" charset="-122"/>
              <a:cs typeface="微软雅黑" panose="020B0503020204020204" charset="-122"/>
            </a:endParaRPr>
          </a:p>
        </p:txBody>
      </p:sp>
      <p:graphicFrame>
        <p:nvGraphicFramePr>
          <p:cNvPr id="10" name="表格 9"/>
          <p:cNvGraphicFramePr/>
          <p:nvPr/>
        </p:nvGraphicFramePr>
        <p:xfrm>
          <a:off x="609600" y="1790700"/>
          <a:ext cx="10972800" cy="3429000"/>
        </p:xfrm>
        <a:graphic>
          <a:graphicData uri="http://schemas.openxmlformats.org/drawingml/2006/table">
            <a:tbl>
              <a:tblPr/>
              <a:tblGrid>
                <a:gridCol w="2286000"/>
                <a:gridCol w="8686800"/>
              </a:tblGrid>
              <a:tr h="857250">
                <a:tc>
                  <a:txBody>
                    <a:bodyPr>
                      <a:spAutoFit/>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范围</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c>
                  <a:txBody>
                    <a:bodyPr>
                      <a:spAutoFit/>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交付内容与实施重点</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r>
              <a:tr h="857250">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首个 MVP</a:t>
                      </a:r>
                      <a:endParaRPr sz="1800" b="0">
                        <a:solidFill>
                          <a:srgbClr val="172D3B"/>
                        </a:solidFill>
                        <a:latin typeface="微软雅黑" panose="020B0503020204020204" charset="-122"/>
                        <a:ea typeface="微软雅黑" panose="020B0503020204020204" charset="-122"/>
                        <a:cs typeface="微软雅黑" panose="020B0503020204020204" charset="-122"/>
                      </a:endParaRPr>
                    </a:p>
                    <a:p>
                      <a:r>
                        <a:rPr sz="1800" b="0">
                          <a:solidFill>
                            <a:srgbClr val="172D3B"/>
                          </a:solidFill>
                          <a:latin typeface="微软雅黑" panose="020B0503020204020204" charset="-122"/>
                          <a:ea typeface="微软雅黑" panose="020B0503020204020204" charset="-122"/>
                          <a:cs typeface="微软雅黑" panose="020B0503020204020204" charset="-122"/>
                        </a:rPr>
                        <a:t>Sprint 1</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账号登录、日志录入与保存、本人日志修改与查询、上级 Web 查询</a:t>
                      </a:r>
                      <a:endParaRPr sz="1800" b="0">
                        <a:solidFill>
                          <a:srgbClr val="172D3B"/>
                        </a:solidFill>
                        <a:latin typeface="微软雅黑" panose="020B0503020204020204" charset="-122"/>
                        <a:ea typeface="微软雅黑" panose="020B0503020204020204" charset="-122"/>
                        <a:cs typeface="微软雅黑" panose="020B0503020204020204" charset="-122"/>
                      </a:endParaRPr>
                    </a:p>
                    <a:p>
                      <a:r>
                        <a:rPr sz="1800" b="0">
                          <a:solidFill>
                            <a:srgbClr val="172D3B"/>
                          </a:solidFill>
                          <a:latin typeface="微软雅黑" panose="020B0503020204020204" charset="-122"/>
                          <a:ea typeface="微软雅黑" panose="020B0503020204020204" charset="-122"/>
                          <a:cs typeface="微软雅黑" panose="020B0503020204020204" charset="-122"/>
                        </a:rPr>
                        <a:t>验证从界面操作到后端处理、数据库保存的完整业务流程</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857250">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后续核心功能</a:t>
                      </a:r>
                      <a:endParaRPr sz="1800" b="0">
                        <a:solidFill>
                          <a:srgbClr val="172D3B"/>
                        </a:solidFill>
                        <a:latin typeface="微软雅黑" panose="020B0503020204020204" charset="-122"/>
                        <a:ea typeface="微软雅黑" panose="020B0503020204020204" charset="-122"/>
                        <a:cs typeface="微软雅黑" panose="020B0503020204020204" charset="-122"/>
                      </a:endParaRPr>
                    </a:p>
                    <a:p>
                      <a:r>
                        <a:rPr sz="1800" b="0">
                          <a:solidFill>
                            <a:srgbClr val="172D3B"/>
                          </a:solidFill>
                          <a:latin typeface="微软雅黑" panose="020B0503020204020204" charset="-122"/>
                          <a:ea typeface="微软雅黑" panose="020B0503020204020204" charset="-122"/>
                          <a:cs typeface="微软雅黑" panose="020B0503020204020204" charset="-122"/>
                        </a:rPr>
                        <a:t>Sprint 2</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任务派发与进度、四板块完善、日周月视图</a:t>
                      </a:r>
                      <a:endParaRPr sz="1800" b="0">
                        <a:solidFill>
                          <a:srgbClr val="172D3B"/>
                        </a:solidFill>
                        <a:latin typeface="微软雅黑" panose="020B0503020204020204" charset="-122"/>
                        <a:ea typeface="微软雅黑" panose="020B0503020204020204" charset="-122"/>
                        <a:cs typeface="微软雅黑" panose="020B0503020204020204" charset="-122"/>
                      </a:endParaRPr>
                    </a:p>
                    <a:p>
                      <a:r>
                        <a:rPr sz="1800" b="0">
                          <a:solidFill>
                            <a:srgbClr val="172D3B"/>
                          </a:solidFill>
                          <a:latin typeface="微软雅黑" panose="020B0503020204020204" charset="-122"/>
                          <a:ea typeface="微软雅黑" panose="020B0503020204020204" charset="-122"/>
                          <a:cs typeface="微软雅黑" panose="020B0503020204020204" charset="-122"/>
                        </a:rPr>
                        <a:t>实现工作安排、执行反馈与信息展示之间的数据关联</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r>
              <a:tr h="857250">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可选扩展</a:t>
                      </a:r>
                      <a:endParaRPr sz="1800" b="0">
                        <a:solidFill>
                          <a:srgbClr val="172D3B"/>
                        </a:solidFill>
                        <a:latin typeface="微软雅黑" panose="020B0503020204020204" charset="-122"/>
                        <a:ea typeface="微软雅黑" panose="020B0503020204020204" charset="-122"/>
                        <a:cs typeface="微软雅黑" panose="020B0503020204020204" charset="-122"/>
                      </a:endParaRPr>
                    </a:p>
                    <a:p>
                      <a:r>
                        <a:rPr sz="1800" b="0">
                          <a:solidFill>
                            <a:srgbClr val="172D3B"/>
                          </a:solidFill>
                          <a:latin typeface="微软雅黑" panose="020B0503020204020204" charset="-122"/>
                          <a:ea typeface="微软雅黑" panose="020B0503020204020204" charset="-122"/>
                          <a:cs typeface="微软雅黑" panose="020B0503020204020204" charset="-122"/>
                        </a:rPr>
                        <a:t>不纳入首版</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AI / MBTI、跨公司匹配、复杂复核、高级统计图</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5" name="text-17"/>
          <p:cNvSpPr>
            <a:spLocks noGrp="1"/>
          </p:cNvSpPr>
          <p:nvPr/>
        </p:nvSpPr>
        <p:spPr>
          <a:xfrm>
            <a:off x="628650" y="5448300"/>
            <a:ext cx="10668000" cy="400050"/>
          </a:xfrm>
          <a:prstGeom prst="rect">
            <a:avLst/>
          </a:prstGeom>
          <a:noFill/>
          <a:ln w="0">
            <a:noFill/>
          </a:ln>
        </p:spPr>
        <p:txBody>
          <a:bodyPr>
            <a:noAutofit/>
          </a:bodyPr>
          <a:lstStyle/>
          <a:p>
            <a:pPr algn="l">
              <a:defRPr sz="1875" b="0">
                <a:solidFill>
                  <a:srgbClr val="576873"/>
                </a:solidFill>
                <a:latin typeface="微软雅黑" panose="020B0503020204020204" charset="-122"/>
                <a:ea typeface="微软雅黑" panose="020B0503020204020204" charset="-122"/>
                <a:cs typeface="微软雅黑" panose="020B0503020204020204" charset="-122"/>
              </a:defRPr>
            </a:pPr>
            <a:r>
              <a:rPr sz="1875" b="0">
                <a:solidFill>
                  <a:srgbClr val="576873"/>
                </a:solidFill>
                <a:latin typeface="微软雅黑" panose="020B0503020204020204" charset="-122"/>
                <a:ea typeface="微软雅黑" panose="020B0503020204020204" charset="-122"/>
                <a:cs typeface="微软雅黑" panose="020B0503020204020204" charset="-122"/>
              </a:rPr>
              <a:t>现有需求草案包含 25 条用户故事，覆盖产品整体范围。</a:t>
            </a:r>
            <a:endParaRPr sz="187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6" name="text-18"/>
          <p:cNvSpPr>
            <a:spLocks noGrp="1"/>
          </p:cNvSpPr>
          <p:nvPr/>
        </p:nvSpPr>
        <p:spPr>
          <a:xfrm>
            <a:off x="628650" y="5876925"/>
            <a:ext cx="10668000" cy="390525"/>
          </a:xfrm>
          <a:prstGeom prst="rect">
            <a:avLst/>
          </a:prstGeom>
          <a:noFill/>
          <a:ln w="0">
            <a:noFill/>
          </a:ln>
        </p:spPr>
        <p:txBody>
          <a:bodyPr>
            <a:noAutofit/>
          </a:bodyPr>
          <a:lstStyle/>
          <a:p>
            <a:pPr algn="l">
              <a:defRPr sz="1800" b="0">
                <a:solidFill>
                  <a:srgbClr val="576873"/>
                </a:solidFill>
                <a:latin typeface="微软雅黑" panose="020B0503020204020204" charset="-122"/>
                <a:ea typeface="微软雅黑" panose="020B0503020204020204" charset="-122"/>
                <a:cs typeface="微软雅黑" panose="020B0503020204020204" charset="-122"/>
              </a:defRPr>
            </a:pPr>
            <a:r>
              <a:rPr sz="1800" b="0">
                <a:solidFill>
                  <a:srgbClr val="576873"/>
                </a:solidFill>
                <a:latin typeface="微软雅黑" panose="020B0503020204020204" charset="-122"/>
                <a:ea typeface="微软雅黑" panose="020B0503020204020204" charset="-122"/>
                <a:cs typeface="微软雅黑" panose="020B0503020204020204" charset="-122"/>
              </a:rPr>
              <a:t>Sprint 1 优先完成日志业务流程，其余故事按迭代计划逐步实现。</a:t>
            </a:r>
            <a:endParaRPr sz="1800" b="0">
              <a:solidFill>
                <a:srgbClr val="57687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22" name="text-19"/>
          <p:cNvSpPr>
            <a:spLocks noGrp="1"/>
          </p:cNvSpPr>
          <p:nvPr/>
        </p:nvSpPr>
        <p:spPr>
          <a:xfrm>
            <a:off x="609600" y="381000"/>
            <a:ext cx="10972800" cy="609600"/>
          </a:xfrm>
          <a:prstGeom prst="rect">
            <a:avLst/>
          </a:prstGeom>
          <a:noFill/>
          <a:ln w="0">
            <a:noFill/>
          </a:ln>
        </p:spPr>
        <p:txBody>
          <a:bodyPr>
            <a:noAutofit/>
          </a:bodyPr>
          <a:lstStyle/>
          <a:p>
            <a:pPr algn="l">
              <a:defRPr sz="3225" b="1">
                <a:solidFill>
                  <a:srgbClr val="172D3B"/>
                </a:solidFill>
                <a:latin typeface="微软雅黑" panose="020B0503020204020204" charset="-122"/>
                <a:ea typeface="微软雅黑" panose="020B0503020204020204" charset="-122"/>
                <a:cs typeface="微软雅黑" panose="020B0503020204020204" charset="-122"/>
              </a:defRPr>
            </a:pPr>
            <a:r>
              <a:rPr sz="3225" b="1">
                <a:solidFill>
                  <a:srgbClr val="172D3B"/>
                </a:solidFill>
                <a:latin typeface="微软雅黑" panose="020B0503020204020204" charset="-122"/>
                <a:ea typeface="微软雅黑" panose="020B0503020204020204" charset="-122"/>
                <a:cs typeface="微软雅黑" panose="020B0503020204020204" charset="-122"/>
              </a:rPr>
              <a:t>首个 MVP 的功能范围与验收标准</a:t>
            </a:r>
            <a:endParaRPr sz="322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2" name="text-20"/>
          <p:cNvSpPr>
            <a:spLocks noGrp="1"/>
          </p:cNvSpPr>
          <p:nvPr/>
        </p:nvSpPr>
        <p:spPr>
          <a:xfrm>
            <a:off x="628650" y="1057275"/>
            <a:ext cx="10934700" cy="4572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Sprint 1 交付目标：员工日志录入、持久化保存与上级授权查询</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3" name="text-21"/>
          <p:cNvSpPr>
            <a:spLocks noGrp="1"/>
          </p:cNvSpPr>
          <p:nvPr/>
        </p:nvSpPr>
        <p:spPr>
          <a:xfrm>
            <a:off x="10953750" y="6419850"/>
            <a:ext cx="590550" cy="238125"/>
          </a:xfrm>
          <a:prstGeom prst="rect">
            <a:avLst/>
          </a:prstGeom>
          <a:noFill/>
          <a:ln w="0">
            <a:noFill/>
          </a:ln>
        </p:spPr>
        <p:txBody>
          <a:bodyPr>
            <a:noAutofit/>
          </a:bodyPr>
          <a:lstStyle/>
          <a:p>
            <a:pPr algn="r">
              <a:defRPr sz="1275" b="0">
                <a:solidFill>
                  <a:srgbClr val="576873"/>
                </a:solidFill>
                <a:latin typeface="微软雅黑" panose="020B0503020204020204" charset="-122"/>
                <a:ea typeface="微软雅黑" panose="020B0503020204020204" charset="-122"/>
                <a:cs typeface="微软雅黑" panose="020B0503020204020204" charset="-122"/>
              </a:defRPr>
            </a:pPr>
            <a:r>
              <a:rPr sz="1275" b="0">
                <a:solidFill>
                  <a:srgbClr val="576873"/>
                </a:solidFill>
                <a:latin typeface="微软雅黑" panose="020B0503020204020204" charset="-122"/>
                <a:ea typeface="微软雅黑" panose="020B0503020204020204" charset="-122"/>
                <a:cs typeface="微软雅黑" panose="020B0503020204020204" charset="-122"/>
              </a:rPr>
              <a:t>04</a:t>
            </a:r>
            <a:endParaRPr sz="127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4" name="text-22"/>
          <p:cNvSpPr>
            <a:spLocks noGrp="1"/>
          </p:cNvSpPr>
          <p:nvPr/>
        </p:nvSpPr>
        <p:spPr>
          <a:xfrm>
            <a:off x="628650" y="1619250"/>
            <a:ext cx="10953750" cy="457200"/>
          </a:xfrm>
          <a:prstGeom prst="rect">
            <a:avLst/>
          </a:prstGeom>
          <a:noFill/>
          <a:ln w="0">
            <a:noFill/>
          </a:ln>
        </p:spPr>
        <p:txBody>
          <a:bodyPr>
            <a:noAutofit/>
          </a:bodyPr>
          <a:lstStyle/>
          <a:p>
            <a:pPr algn="l">
              <a:defRPr sz="1875" b="1">
                <a:solidFill>
                  <a:srgbClr val="172D3B"/>
                </a:solidFill>
                <a:latin typeface="微软雅黑" panose="020B0503020204020204" charset="-122"/>
                <a:ea typeface="微软雅黑" panose="020B0503020204020204" charset="-122"/>
                <a:cs typeface="微软雅黑" panose="020B0503020204020204" charset="-122"/>
              </a:defRPr>
            </a:pPr>
            <a:r>
              <a:rPr sz="1875" b="1">
                <a:solidFill>
                  <a:srgbClr val="172D3B"/>
                </a:solidFill>
                <a:latin typeface="微软雅黑" panose="020B0503020204020204" charset="-122"/>
                <a:ea typeface="微软雅黑" panose="020B0503020204020204" charset="-122"/>
                <a:cs typeface="微软雅黑" panose="020B0503020204020204" charset="-122"/>
              </a:rPr>
              <a:t>范围：账号登录、日志新建与修改、个人历史查询、上级按人员与日期查询。</a:t>
            </a:r>
            <a:endParaRPr sz="187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5" name="diagram-23"/>
          <p:cNvSpPr>
            <a:spLocks noGrp="1"/>
          </p:cNvSpPr>
          <p:nvPr/>
        </p:nvSpPr>
        <p:spPr>
          <a:xfrm>
            <a:off x="628650" y="2324100"/>
            <a:ext cx="2209800" cy="1047750"/>
          </a:xfrm>
          <a:prstGeom prst="rect">
            <a:avLst/>
          </a:prstGeom>
          <a:solidFill>
            <a:srgbClr val="EAF3F2"/>
          </a:solidFill>
          <a:ln w="14288">
            <a:solidFill>
              <a:srgbClr val="CDDAD9"/>
            </a:solidFill>
          </a:ln>
        </p:spPr>
      </p:sp>
      <p:sp>
        <p:nvSpPr>
          <p:cNvPr id="6" name="text-24"/>
          <p:cNvSpPr>
            <a:spLocks noGrp="1"/>
          </p:cNvSpPr>
          <p:nvPr/>
        </p:nvSpPr>
        <p:spPr>
          <a:xfrm>
            <a:off x="771525" y="2447925"/>
            <a:ext cx="1952625" cy="361950"/>
          </a:xfrm>
          <a:prstGeom prst="rect">
            <a:avLst/>
          </a:prstGeom>
          <a:noFill/>
          <a:ln w="0">
            <a:noFill/>
          </a:ln>
        </p:spPr>
        <p:txBody>
          <a:bodyPr>
            <a:noAutofit/>
          </a:bodyPr>
          <a:lstStyle/>
          <a:p>
            <a:pPr algn="l">
              <a:defRPr sz="1875" b="1">
                <a:solidFill>
                  <a:srgbClr val="087F82"/>
                </a:solidFill>
                <a:latin typeface="微软雅黑" panose="020B0503020204020204" charset="-122"/>
                <a:ea typeface="微软雅黑" panose="020B0503020204020204" charset="-122"/>
                <a:cs typeface="微软雅黑" panose="020B0503020204020204" charset="-122"/>
              </a:defRPr>
            </a:pPr>
            <a:r>
              <a:rPr sz="1875" b="1">
                <a:solidFill>
                  <a:srgbClr val="087F82"/>
                </a:solidFill>
                <a:latin typeface="微软雅黑" panose="020B0503020204020204" charset="-122"/>
                <a:ea typeface="微软雅黑" panose="020B0503020204020204" charset="-122"/>
                <a:cs typeface="微软雅黑" panose="020B0503020204020204" charset="-122"/>
              </a:rPr>
              <a:t>员工 Android</a:t>
            </a:r>
            <a:endParaRPr sz="187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7" name="text-25"/>
          <p:cNvSpPr>
            <a:spLocks noGrp="1"/>
          </p:cNvSpPr>
          <p:nvPr/>
        </p:nvSpPr>
        <p:spPr>
          <a:xfrm>
            <a:off x="771525" y="2886075"/>
            <a:ext cx="1971675" cy="352425"/>
          </a:xfrm>
          <a:prstGeom prst="rect">
            <a:avLst/>
          </a:prstGeom>
          <a:noFill/>
          <a:ln w="0">
            <a:noFill/>
          </a:ln>
        </p:spPr>
        <p:txBody>
          <a:bodyPr>
            <a:noAutofit/>
          </a:bodyPr>
          <a:lstStyle/>
          <a:p>
            <a:pPr algn="l">
              <a:defRPr sz="1725" b="0">
                <a:solidFill>
                  <a:srgbClr val="172D3B"/>
                </a:solidFill>
                <a:latin typeface="微软雅黑" panose="020B0503020204020204" charset="-122"/>
                <a:ea typeface="微软雅黑" panose="020B0503020204020204" charset="-122"/>
                <a:cs typeface="微软雅黑" panose="020B0503020204020204" charset="-122"/>
              </a:defRPr>
            </a:pPr>
            <a:r>
              <a:rPr sz="1725" b="0">
                <a:solidFill>
                  <a:srgbClr val="172D3B"/>
                </a:solidFill>
                <a:latin typeface="微软雅黑" panose="020B0503020204020204" charset="-122"/>
                <a:ea typeface="微软雅黑" panose="020B0503020204020204" charset="-122"/>
                <a:cs typeface="微软雅黑" panose="020B0503020204020204" charset="-122"/>
              </a:rPr>
              <a:t>登录与日志录入</a:t>
            </a:r>
            <a:endParaRPr sz="1725" b="0">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8" name="右箭头 7"/>
          <p:cNvSpPr>
            <a:spLocks noGrp="1"/>
          </p:cNvSpPr>
          <p:nvPr/>
        </p:nvSpPr>
        <p:spPr>
          <a:xfrm>
            <a:off x="2971800" y="2752725"/>
            <a:ext cx="400050" cy="209550"/>
          </a:xfrm>
          <a:prstGeom prst="rightArrow">
            <a:avLst/>
          </a:prstGeom>
          <a:solidFill>
            <a:srgbClr val="087F82"/>
          </a:solidFill>
          <a:ln w="0">
            <a:noFill/>
          </a:ln>
        </p:spPr>
      </p:sp>
      <p:sp>
        <p:nvSpPr>
          <p:cNvPr id="9" name="diagram-26"/>
          <p:cNvSpPr>
            <a:spLocks noGrp="1"/>
          </p:cNvSpPr>
          <p:nvPr/>
        </p:nvSpPr>
        <p:spPr>
          <a:xfrm>
            <a:off x="3524250" y="2324100"/>
            <a:ext cx="2209800" cy="1047750"/>
          </a:xfrm>
          <a:prstGeom prst="rect">
            <a:avLst/>
          </a:prstGeom>
          <a:solidFill>
            <a:srgbClr val="EAF3F2"/>
          </a:solidFill>
          <a:ln w="14288">
            <a:solidFill>
              <a:srgbClr val="CDDAD9"/>
            </a:solidFill>
          </a:ln>
        </p:spPr>
      </p:sp>
      <p:sp>
        <p:nvSpPr>
          <p:cNvPr id="10" name="text-27"/>
          <p:cNvSpPr>
            <a:spLocks noGrp="1"/>
          </p:cNvSpPr>
          <p:nvPr/>
        </p:nvSpPr>
        <p:spPr>
          <a:xfrm>
            <a:off x="3667125" y="2447925"/>
            <a:ext cx="1952625" cy="361950"/>
          </a:xfrm>
          <a:prstGeom prst="rect">
            <a:avLst/>
          </a:prstGeom>
          <a:noFill/>
          <a:ln w="0">
            <a:noFill/>
          </a:ln>
        </p:spPr>
        <p:txBody>
          <a:bodyPr>
            <a:noAutofit/>
          </a:bodyPr>
          <a:lstStyle/>
          <a:p>
            <a:pPr algn="l">
              <a:defRPr sz="1875" b="1">
                <a:solidFill>
                  <a:srgbClr val="087F82"/>
                </a:solidFill>
                <a:latin typeface="微软雅黑" panose="020B0503020204020204" charset="-122"/>
                <a:ea typeface="微软雅黑" panose="020B0503020204020204" charset="-122"/>
                <a:cs typeface="微软雅黑" panose="020B0503020204020204" charset="-122"/>
              </a:defRPr>
            </a:pPr>
            <a:r>
              <a:rPr sz="1875" b="1">
                <a:solidFill>
                  <a:srgbClr val="087F82"/>
                </a:solidFill>
                <a:latin typeface="微软雅黑" panose="020B0503020204020204" charset="-122"/>
                <a:ea typeface="微软雅黑" panose="020B0503020204020204" charset="-122"/>
                <a:cs typeface="微软雅黑" panose="020B0503020204020204" charset="-122"/>
              </a:rPr>
              <a:t>后端与数据库</a:t>
            </a:r>
            <a:endParaRPr sz="187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11" name="text-28"/>
          <p:cNvSpPr>
            <a:spLocks noGrp="1"/>
          </p:cNvSpPr>
          <p:nvPr/>
        </p:nvSpPr>
        <p:spPr>
          <a:xfrm>
            <a:off x="3667125" y="2886075"/>
            <a:ext cx="1971675" cy="352425"/>
          </a:xfrm>
          <a:prstGeom prst="rect">
            <a:avLst/>
          </a:prstGeom>
          <a:noFill/>
          <a:ln w="0">
            <a:noFill/>
          </a:ln>
        </p:spPr>
        <p:txBody>
          <a:bodyPr>
            <a:noAutofit/>
          </a:bodyPr>
          <a:lstStyle/>
          <a:p>
            <a:pPr algn="l">
              <a:defRPr sz="1725" b="0">
                <a:solidFill>
                  <a:srgbClr val="172D3B"/>
                </a:solidFill>
                <a:latin typeface="微软雅黑" panose="020B0503020204020204" charset="-122"/>
                <a:ea typeface="微软雅黑" panose="020B0503020204020204" charset="-122"/>
                <a:cs typeface="微软雅黑" panose="020B0503020204020204" charset="-122"/>
              </a:defRPr>
            </a:pPr>
            <a:r>
              <a:rPr sz="1725" b="0">
                <a:solidFill>
                  <a:srgbClr val="172D3B"/>
                </a:solidFill>
                <a:latin typeface="微软雅黑" panose="020B0503020204020204" charset="-122"/>
                <a:ea typeface="微软雅黑" panose="020B0503020204020204" charset="-122"/>
                <a:cs typeface="微软雅黑" panose="020B0503020204020204" charset="-122"/>
              </a:rPr>
              <a:t>校验与持久化</a:t>
            </a:r>
            <a:endParaRPr sz="1725" b="0">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12" name="右箭头 11"/>
          <p:cNvSpPr>
            <a:spLocks noGrp="1"/>
          </p:cNvSpPr>
          <p:nvPr/>
        </p:nvSpPr>
        <p:spPr>
          <a:xfrm>
            <a:off x="5867400" y="2752725"/>
            <a:ext cx="400050" cy="209550"/>
          </a:xfrm>
          <a:prstGeom prst="rightArrow">
            <a:avLst/>
          </a:prstGeom>
          <a:solidFill>
            <a:srgbClr val="087F82"/>
          </a:solidFill>
          <a:ln w="0">
            <a:noFill/>
          </a:ln>
        </p:spPr>
      </p:sp>
      <p:sp>
        <p:nvSpPr>
          <p:cNvPr id="13" name="diagram-29"/>
          <p:cNvSpPr>
            <a:spLocks noGrp="1"/>
          </p:cNvSpPr>
          <p:nvPr/>
        </p:nvSpPr>
        <p:spPr>
          <a:xfrm>
            <a:off x="6419850" y="2324100"/>
            <a:ext cx="2209800" cy="1047750"/>
          </a:xfrm>
          <a:prstGeom prst="rect">
            <a:avLst/>
          </a:prstGeom>
          <a:solidFill>
            <a:srgbClr val="EAF3F2"/>
          </a:solidFill>
          <a:ln w="14288">
            <a:solidFill>
              <a:srgbClr val="CDDAD9"/>
            </a:solidFill>
          </a:ln>
        </p:spPr>
      </p:sp>
      <p:sp>
        <p:nvSpPr>
          <p:cNvPr id="14" name="text-30"/>
          <p:cNvSpPr>
            <a:spLocks noGrp="1"/>
          </p:cNvSpPr>
          <p:nvPr/>
        </p:nvSpPr>
        <p:spPr>
          <a:xfrm>
            <a:off x="6562725" y="2447925"/>
            <a:ext cx="1952625" cy="361950"/>
          </a:xfrm>
          <a:prstGeom prst="rect">
            <a:avLst/>
          </a:prstGeom>
          <a:noFill/>
          <a:ln w="0">
            <a:noFill/>
          </a:ln>
        </p:spPr>
        <p:txBody>
          <a:bodyPr>
            <a:noAutofit/>
          </a:bodyPr>
          <a:lstStyle/>
          <a:p>
            <a:pPr algn="l">
              <a:defRPr sz="1875" b="1">
                <a:solidFill>
                  <a:srgbClr val="087F82"/>
                </a:solidFill>
                <a:latin typeface="微软雅黑" panose="020B0503020204020204" charset="-122"/>
                <a:ea typeface="微软雅黑" panose="020B0503020204020204" charset="-122"/>
                <a:cs typeface="微软雅黑" panose="020B0503020204020204" charset="-122"/>
              </a:defRPr>
            </a:pPr>
            <a:r>
              <a:rPr sz="1875" b="1">
                <a:solidFill>
                  <a:srgbClr val="087F82"/>
                </a:solidFill>
                <a:latin typeface="微软雅黑" panose="020B0503020204020204" charset="-122"/>
                <a:ea typeface="微软雅黑" panose="020B0503020204020204" charset="-122"/>
                <a:cs typeface="微软雅黑" panose="020B0503020204020204" charset="-122"/>
              </a:rPr>
              <a:t>员工 Android</a:t>
            </a:r>
            <a:endParaRPr sz="187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15" name="text-31"/>
          <p:cNvSpPr>
            <a:spLocks noGrp="1"/>
          </p:cNvSpPr>
          <p:nvPr/>
        </p:nvSpPr>
        <p:spPr>
          <a:xfrm>
            <a:off x="6562725" y="2886075"/>
            <a:ext cx="1971675" cy="352425"/>
          </a:xfrm>
          <a:prstGeom prst="rect">
            <a:avLst/>
          </a:prstGeom>
          <a:noFill/>
          <a:ln w="0">
            <a:noFill/>
          </a:ln>
        </p:spPr>
        <p:txBody>
          <a:bodyPr>
            <a:noAutofit/>
          </a:bodyPr>
          <a:lstStyle/>
          <a:p>
            <a:pPr algn="l">
              <a:defRPr sz="1725" b="0">
                <a:solidFill>
                  <a:srgbClr val="172D3B"/>
                </a:solidFill>
                <a:latin typeface="微软雅黑" panose="020B0503020204020204" charset="-122"/>
                <a:ea typeface="微软雅黑" panose="020B0503020204020204" charset="-122"/>
                <a:cs typeface="微软雅黑" panose="020B0503020204020204" charset="-122"/>
              </a:defRPr>
            </a:pPr>
            <a:r>
              <a:rPr sz="1725" b="0">
                <a:solidFill>
                  <a:srgbClr val="172D3B"/>
                </a:solidFill>
                <a:latin typeface="微软雅黑" panose="020B0503020204020204" charset="-122"/>
                <a:ea typeface="微软雅黑" panose="020B0503020204020204" charset="-122"/>
                <a:cs typeface="微软雅黑" panose="020B0503020204020204" charset="-122"/>
              </a:rPr>
              <a:t>本人日志查询</a:t>
            </a:r>
            <a:endParaRPr sz="1725" b="0">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16" name="右箭头 15"/>
          <p:cNvSpPr>
            <a:spLocks noGrp="1"/>
          </p:cNvSpPr>
          <p:nvPr/>
        </p:nvSpPr>
        <p:spPr>
          <a:xfrm>
            <a:off x="8763000" y="2752725"/>
            <a:ext cx="400050" cy="209550"/>
          </a:xfrm>
          <a:prstGeom prst="rightArrow">
            <a:avLst/>
          </a:prstGeom>
          <a:solidFill>
            <a:srgbClr val="087F82"/>
          </a:solidFill>
          <a:ln w="0">
            <a:noFill/>
          </a:ln>
        </p:spPr>
      </p:sp>
      <p:sp>
        <p:nvSpPr>
          <p:cNvPr id="17" name="diagram-32"/>
          <p:cNvSpPr>
            <a:spLocks noGrp="1"/>
          </p:cNvSpPr>
          <p:nvPr/>
        </p:nvSpPr>
        <p:spPr>
          <a:xfrm>
            <a:off x="9315450" y="2324100"/>
            <a:ext cx="2209800" cy="1047750"/>
          </a:xfrm>
          <a:prstGeom prst="rect">
            <a:avLst/>
          </a:prstGeom>
          <a:solidFill>
            <a:srgbClr val="EAF3F2"/>
          </a:solidFill>
          <a:ln w="14288">
            <a:solidFill>
              <a:srgbClr val="CDDAD9"/>
            </a:solidFill>
          </a:ln>
        </p:spPr>
      </p:sp>
      <p:sp>
        <p:nvSpPr>
          <p:cNvPr id="18" name="text-33"/>
          <p:cNvSpPr>
            <a:spLocks noGrp="1"/>
          </p:cNvSpPr>
          <p:nvPr/>
        </p:nvSpPr>
        <p:spPr>
          <a:xfrm>
            <a:off x="9458325" y="2447925"/>
            <a:ext cx="1952625" cy="361950"/>
          </a:xfrm>
          <a:prstGeom prst="rect">
            <a:avLst/>
          </a:prstGeom>
          <a:noFill/>
          <a:ln w="0">
            <a:noFill/>
          </a:ln>
        </p:spPr>
        <p:txBody>
          <a:bodyPr>
            <a:noAutofit/>
          </a:bodyPr>
          <a:lstStyle/>
          <a:p>
            <a:pPr algn="l">
              <a:defRPr sz="1875" b="1">
                <a:solidFill>
                  <a:srgbClr val="087F82"/>
                </a:solidFill>
                <a:latin typeface="微软雅黑" panose="020B0503020204020204" charset="-122"/>
                <a:ea typeface="微软雅黑" panose="020B0503020204020204" charset="-122"/>
                <a:cs typeface="微软雅黑" panose="020B0503020204020204" charset="-122"/>
              </a:defRPr>
            </a:pPr>
            <a:r>
              <a:rPr sz="1875" b="1">
                <a:solidFill>
                  <a:srgbClr val="087F82"/>
                </a:solidFill>
                <a:latin typeface="微软雅黑" panose="020B0503020204020204" charset="-122"/>
                <a:ea typeface="微软雅黑" panose="020B0503020204020204" charset="-122"/>
                <a:cs typeface="微软雅黑" panose="020B0503020204020204" charset="-122"/>
              </a:rPr>
              <a:t>上级 Web</a:t>
            </a:r>
            <a:endParaRPr sz="187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19" name="text-34"/>
          <p:cNvSpPr>
            <a:spLocks noGrp="1"/>
          </p:cNvSpPr>
          <p:nvPr/>
        </p:nvSpPr>
        <p:spPr>
          <a:xfrm>
            <a:off x="9458325" y="2886075"/>
            <a:ext cx="1971675" cy="352425"/>
          </a:xfrm>
          <a:prstGeom prst="rect">
            <a:avLst/>
          </a:prstGeom>
          <a:noFill/>
          <a:ln w="0">
            <a:noFill/>
          </a:ln>
        </p:spPr>
        <p:txBody>
          <a:bodyPr>
            <a:noAutofit/>
          </a:bodyPr>
          <a:lstStyle/>
          <a:p>
            <a:pPr algn="l">
              <a:defRPr sz="1725" b="0">
                <a:solidFill>
                  <a:srgbClr val="172D3B"/>
                </a:solidFill>
                <a:latin typeface="微软雅黑" panose="020B0503020204020204" charset="-122"/>
                <a:ea typeface="微软雅黑" panose="020B0503020204020204" charset="-122"/>
                <a:cs typeface="微软雅黑" panose="020B0503020204020204" charset="-122"/>
              </a:defRPr>
            </a:pPr>
            <a:r>
              <a:rPr sz="1725" b="0">
                <a:solidFill>
                  <a:srgbClr val="172D3B"/>
                </a:solidFill>
                <a:latin typeface="微软雅黑" panose="020B0503020204020204" charset="-122"/>
                <a:ea typeface="微软雅黑" panose="020B0503020204020204" charset="-122"/>
                <a:cs typeface="微软雅黑" panose="020B0503020204020204" charset="-122"/>
              </a:rPr>
              <a:t>直属下属日志查询</a:t>
            </a:r>
            <a:endParaRPr sz="1725" b="0">
              <a:solidFill>
                <a:srgbClr val="172D3B"/>
              </a:solidFill>
              <a:latin typeface="微软雅黑" panose="020B0503020204020204" charset="-122"/>
              <a:ea typeface="微软雅黑" panose="020B0503020204020204" charset="-122"/>
              <a:cs typeface="微软雅黑" panose="020B0503020204020204" charset="-122"/>
            </a:endParaRPr>
          </a:p>
        </p:txBody>
      </p:sp>
      <p:graphicFrame>
        <p:nvGraphicFramePr>
          <p:cNvPr id="41" name="表格 40"/>
          <p:cNvGraphicFramePr/>
          <p:nvPr/>
        </p:nvGraphicFramePr>
        <p:xfrm>
          <a:off x="609600" y="3724275"/>
          <a:ext cx="10972800" cy="2000252"/>
        </p:xfrm>
        <a:graphic>
          <a:graphicData uri="http://schemas.openxmlformats.org/drawingml/2006/table">
            <a:tbl>
              <a:tblPr/>
              <a:tblGrid>
                <a:gridCol w="1952625"/>
                <a:gridCol w="9020175"/>
              </a:tblGrid>
              <a:tr h="500063">
                <a:tc>
                  <a:txBody>
                    <a:bodyPr>
                      <a:spAutoFit/>
                    </a:bodyPr>
                    <a:lstStyle/>
                    <a:p>
                      <a:r>
                        <a:rPr sz="1725" b="1">
                          <a:solidFill>
                            <a:srgbClr val="FFFFFF"/>
                          </a:solidFill>
                          <a:latin typeface="微软雅黑" panose="020B0503020204020204" charset="-122"/>
                          <a:ea typeface="微软雅黑" panose="020B0503020204020204" charset="-122"/>
                          <a:cs typeface="微软雅黑" panose="020B0503020204020204" charset="-122"/>
                        </a:rPr>
                        <a:t>验收维度</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c>
                  <a:txBody>
                    <a:bodyPr>
                      <a:spAutoFit/>
                    </a:bodyPr>
                    <a:lstStyle/>
                    <a:p>
                      <a:r>
                        <a:rPr sz="1725" b="1">
                          <a:solidFill>
                            <a:srgbClr val="FFFFFF"/>
                          </a:solidFill>
                          <a:latin typeface="微软雅黑" panose="020B0503020204020204" charset="-122"/>
                          <a:ea typeface="微软雅黑" panose="020B0503020204020204" charset="-122"/>
                          <a:cs typeface="微软雅黑" panose="020B0503020204020204" charset="-122"/>
                        </a:rPr>
                        <a:t>具体标准</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r>
              <a:tr h="500063">
                <a:tc>
                  <a:txBody>
                    <a:bodyPr>
                      <a:spAutoFit/>
                    </a:bodyPr>
                    <a:lstStyle/>
                    <a:p>
                      <a:r>
                        <a:rPr sz="1725" b="0">
                          <a:solidFill>
                            <a:srgbClr val="172D3B"/>
                          </a:solidFill>
                          <a:latin typeface="微软雅黑" panose="020B0503020204020204" charset="-122"/>
                          <a:ea typeface="微软雅黑" panose="020B0503020204020204" charset="-122"/>
                          <a:cs typeface="微软雅黑" panose="020B0503020204020204" charset="-122"/>
                        </a:rPr>
                        <a:t>数据一致性</a:t>
                      </a:r>
                      <a:endParaRPr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725" b="0">
                          <a:solidFill>
                            <a:srgbClr val="172D3B"/>
                          </a:solidFill>
                          <a:latin typeface="微软雅黑" panose="020B0503020204020204" charset="-122"/>
                          <a:ea typeface="微软雅黑" panose="020B0503020204020204" charset="-122"/>
                          <a:cs typeface="微软雅黑" panose="020B0503020204020204" charset="-122"/>
                        </a:rPr>
                        <a:t>日志保存成功后，重新登录仍可查询，管理端展示相同内容。</a:t>
                      </a:r>
                      <a:endParaRPr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500063">
                <a:tc>
                  <a:txBody>
                    <a:bodyPr>
                      <a:spAutoFit/>
                    </a:bodyPr>
                    <a:lstStyle/>
                    <a:p>
                      <a:r>
                        <a:rPr sz="1725" b="0">
                          <a:solidFill>
                            <a:srgbClr val="172D3B"/>
                          </a:solidFill>
                          <a:latin typeface="微软雅黑" panose="020B0503020204020204" charset="-122"/>
                          <a:ea typeface="微软雅黑" panose="020B0503020204020204" charset="-122"/>
                          <a:cs typeface="微软雅黑" panose="020B0503020204020204" charset="-122"/>
                        </a:rPr>
                        <a:t>权限隔离</a:t>
                      </a:r>
                      <a:endParaRPr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c>
                  <a:txBody>
                    <a:bodyPr>
                      <a:spAutoFit/>
                    </a:bodyPr>
                    <a:lstStyle/>
                    <a:p>
                      <a:r>
                        <a:rPr sz="1725" b="0">
                          <a:solidFill>
                            <a:srgbClr val="172D3B"/>
                          </a:solidFill>
                          <a:latin typeface="微软雅黑" panose="020B0503020204020204" charset="-122"/>
                          <a:ea typeface="微软雅黑" panose="020B0503020204020204" charset="-122"/>
                          <a:cs typeface="微软雅黑" panose="020B0503020204020204" charset="-122"/>
                        </a:rPr>
                        <a:t>员工仅操作本人日志，上级仅查询直属下属，越权请求返回 403。</a:t>
                      </a:r>
                      <a:endParaRPr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r>
              <a:tr h="500063">
                <a:tc>
                  <a:txBody>
                    <a:bodyPr>
                      <a:spAutoFit/>
                    </a:bodyPr>
                    <a:lstStyle/>
                    <a:p>
                      <a:r>
                        <a:rPr sz="1725" b="0">
                          <a:solidFill>
                            <a:srgbClr val="172D3B"/>
                          </a:solidFill>
                          <a:latin typeface="微软雅黑" panose="020B0503020204020204" charset="-122"/>
                          <a:ea typeface="微软雅黑" panose="020B0503020204020204" charset="-122"/>
                          <a:cs typeface="微软雅黑" panose="020B0503020204020204" charset="-122"/>
                        </a:rPr>
                        <a:t>异常处理</a:t>
                      </a:r>
                      <a:endParaRPr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725" b="0">
                          <a:solidFill>
                            <a:srgbClr val="172D3B"/>
                          </a:solidFill>
                          <a:latin typeface="微软雅黑" panose="020B0503020204020204" charset="-122"/>
                          <a:ea typeface="微软雅黑" panose="020B0503020204020204" charset="-122"/>
                          <a:cs typeface="微软雅黑" panose="020B0503020204020204" charset="-122"/>
                        </a:rPr>
                        <a:t>空正文拒绝提交，未登录请求返回 401，保存失败保留输入并提示。</a:t>
                      </a:r>
                      <a:endParaRPr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21" name="text-35"/>
          <p:cNvSpPr>
            <a:spLocks noGrp="1"/>
          </p:cNvSpPr>
          <p:nvPr/>
        </p:nvSpPr>
        <p:spPr>
          <a:xfrm>
            <a:off x="628650" y="5943600"/>
            <a:ext cx="10858500" cy="36195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首轮采用预置测试账号；任务派发、进度管理与复杂统计在后续迭代实现。</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24" name="text-36"/>
          <p:cNvSpPr>
            <a:spLocks noGrp="1"/>
          </p:cNvSpPr>
          <p:nvPr/>
        </p:nvSpPr>
        <p:spPr>
          <a:xfrm>
            <a:off x="609600" y="381000"/>
            <a:ext cx="10972800" cy="609600"/>
          </a:xfrm>
          <a:prstGeom prst="rect">
            <a:avLst/>
          </a:prstGeom>
          <a:noFill/>
          <a:ln w="0">
            <a:noFill/>
          </a:ln>
        </p:spPr>
        <p:txBody>
          <a:bodyPr>
            <a:noAutofit/>
          </a:bodyPr>
          <a:lstStyle/>
          <a:p>
            <a:pPr algn="l">
              <a:defRPr sz="3225" b="1">
                <a:solidFill>
                  <a:srgbClr val="172D3B"/>
                </a:solidFill>
                <a:latin typeface="微软雅黑" panose="020B0503020204020204" charset="-122"/>
                <a:ea typeface="微软雅黑" panose="020B0503020204020204" charset="-122"/>
                <a:cs typeface="微软雅黑" panose="020B0503020204020204" charset="-122"/>
              </a:defRPr>
            </a:pPr>
            <a:r>
              <a:rPr sz="3225" b="1">
                <a:solidFill>
                  <a:srgbClr val="172D3B"/>
                </a:solidFill>
                <a:latin typeface="微软雅黑" panose="020B0503020204020204" charset="-122"/>
                <a:ea typeface="微软雅黑" panose="020B0503020204020204" charset="-122"/>
                <a:cs typeface="微软雅黑" panose="020B0503020204020204" charset="-122"/>
              </a:rPr>
              <a:t>核心界面低保真原型</a:t>
            </a:r>
            <a:endParaRPr sz="322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2" name="text-37"/>
          <p:cNvSpPr>
            <a:spLocks noGrp="1"/>
          </p:cNvSpPr>
          <p:nvPr/>
        </p:nvSpPr>
        <p:spPr>
          <a:xfrm>
            <a:off x="628650" y="1057275"/>
            <a:ext cx="10934700" cy="4572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用于评审页面结构与交互流程，当前处于原型设计阶段</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3" name="text-38"/>
          <p:cNvSpPr>
            <a:spLocks noGrp="1"/>
          </p:cNvSpPr>
          <p:nvPr/>
        </p:nvSpPr>
        <p:spPr>
          <a:xfrm>
            <a:off x="10953750" y="6419850"/>
            <a:ext cx="590550" cy="238125"/>
          </a:xfrm>
          <a:prstGeom prst="rect">
            <a:avLst/>
          </a:prstGeom>
          <a:noFill/>
          <a:ln w="0">
            <a:noFill/>
          </a:ln>
        </p:spPr>
        <p:txBody>
          <a:bodyPr>
            <a:noAutofit/>
          </a:bodyPr>
          <a:lstStyle/>
          <a:p>
            <a:pPr algn="r">
              <a:defRPr sz="1275" b="0">
                <a:solidFill>
                  <a:srgbClr val="576873"/>
                </a:solidFill>
                <a:latin typeface="微软雅黑" panose="020B0503020204020204" charset="-122"/>
                <a:ea typeface="微软雅黑" panose="020B0503020204020204" charset="-122"/>
                <a:cs typeface="微软雅黑" panose="020B0503020204020204" charset="-122"/>
              </a:defRPr>
            </a:pPr>
            <a:r>
              <a:rPr sz="1275" b="0">
                <a:solidFill>
                  <a:srgbClr val="576873"/>
                </a:solidFill>
                <a:latin typeface="微软雅黑" panose="020B0503020204020204" charset="-122"/>
                <a:ea typeface="微软雅黑" panose="020B0503020204020204" charset="-122"/>
                <a:cs typeface="微软雅黑" panose="020B0503020204020204" charset="-122"/>
              </a:rPr>
              <a:t>05</a:t>
            </a:r>
            <a:endParaRPr sz="127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4" name="diagram-39"/>
          <p:cNvSpPr>
            <a:spLocks noGrp="1"/>
          </p:cNvSpPr>
          <p:nvPr/>
        </p:nvSpPr>
        <p:spPr>
          <a:xfrm>
            <a:off x="609600" y="1885950"/>
            <a:ext cx="2686050" cy="3619500"/>
          </a:xfrm>
          <a:prstGeom prst="rect">
            <a:avLst/>
          </a:prstGeom>
          <a:solidFill>
            <a:srgbClr val="FFFFFF"/>
          </a:solidFill>
          <a:ln w="14288">
            <a:solidFill>
              <a:srgbClr val="CDDAD9"/>
            </a:solidFill>
          </a:ln>
        </p:spPr>
      </p:sp>
      <p:sp>
        <p:nvSpPr>
          <p:cNvPr id="5" name="text-40"/>
          <p:cNvSpPr>
            <a:spLocks noGrp="1"/>
          </p:cNvSpPr>
          <p:nvPr/>
        </p:nvSpPr>
        <p:spPr>
          <a:xfrm>
            <a:off x="762000" y="2019300"/>
            <a:ext cx="2352675" cy="361950"/>
          </a:xfrm>
          <a:prstGeom prst="rect">
            <a:avLst/>
          </a:prstGeom>
          <a:noFill/>
          <a:ln w="0">
            <a:noFill/>
          </a:ln>
        </p:spPr>
        <p:txBody>
          <a:bodyPr>
            <a:noAutofit/>
          </a:bodyPr>
          <a:lstStyle/>
          <a:p>
            <a:pPr algn="l">
              <a:defRPr sz="1950" b="1">
                <a:solidFill>
                  <a:srgbClr val="172D3B"/>
                </a:solidFill>
                <a:latin typeface="微软雅黑" panose="020B0503020204020204" charset="-122"/>
                <a:ea typeface="微软雅黑" panose="020B0503020204020204" charset="-122"/>
                <a:cs typeface="微软雅黑" panose="020B0503020204020204" charset="-122"/>
              </a:defRPr>
            </a:pPr>
            <a:r>
              <a:rPr sz="1950" b="1">
                <a:solidFill>
                  <a:srgbClr val="172D3B"/>
                </a:solidFill>
                <a:latin typeface="微软雅黑" panose="020B0503020204020204" charset="-122"/>
                <a:ea typeface="微软雅黑" panose="020B0503020204020204" charset="-122"/>
                <a:cs typeface="微软雅黑" panose="020B0503020204020204" charset="-122"/>
              </a:rPr>
              <a:t>员工日志列表</a:t>
            </a:r>
            <a:endParaRPr sz="1950"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6" name="text-41"/>
          <p:cNvSpPr>
            <a:spLocks noGrp="1"/>
          </p:cNvSpPr>
          <p:nvPr/>
        </p:nvSpPr>
        <p:spPr>
          <a:xfrm>
            <a:off x="762000" y="2619375"/>
            <a:ext cx="2305050" cy="323850"/>
          </a:xfrm>
          <a:prstGeom prst="rect">
            <a:avLst/>
          </a:prstGeom>
          <a:noFill/>
          <a:ln w="0">
            <a:noFill/>
          </a:ln>
        </p:spPr>
        <p:txBody>
          <a:bodyPr>
            <a:noAutofit/>
          </a:bodyPr>
          <a:lstStyle/>
          <a:p>
            <a:pPr algn="l">
              <a:defRPr sz="1650" b="0">
                <a:solidFill>
                  <a:srgbClr val="172D3B"/>
                </a:solidFill>
                <a:latin typeface="微软雅黑" panose="020B0503020204020204" charset="-122"/>
                <a:ea typeface="微软雅黑" panose="020B0503020204020204" charset="-122"/>
                <a:cs typeface="微软雅黑" panose="020B0503020204020204" charset="-122"/>
              </a:defRPr>
            </a:pPr>
            <a:r>
              <a:rPr sz="1650" b="0">
                <a:solidFill>
                  <a:srgbClr val="172D3B"/>
                </a:solidFill>
                <a:latin typeface="微软雅黑" panose="020B0503020204020204" charset="-122"/>
                <a:ea typeface="微软雅黑" panose="020B0503020204020204" charset="-122"/>
                <a:cs typeface="微软雅黑" panose="020B0503020204020204" charset="-122"/>
              </a:rPr>
              <a:t>日期：2026-09-24</a:t>
            </a:r>
            <a:endParaRPr sz="1650" b="0">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7" name="text-42"/>
          <p:cNvSpPr>
            <a:spLocks noGrp="1"/>
          </p:cNvSpPr>
          <p:nvPr/>
        </p:nvSpPr>
        <p:spPr>
          <a:xfrm>
            <a:off x="762000" y="3124200"/>
            <a:ext cx="2305050" cy="333375"/>
          </a:xfrm>
          <a:prstGeom prst="rect">
            <a:avLst/>
          </a:prstGeom>
          <a:noFill/>
          <a:ln w="0">
            <a:noFill/>
          </a:ln>
        </p:spPr>
        <p:txBody>
          <a:bodyPr>
            <a:noAutofit/>
          </a:bodyPr>
          <a:lstStyle/>
          <a:p>
            <a:pPr algn="l">
              <a:defRPr sz="1800" b="1">
                <a:solidFill>
                  <a:srgbClr val="087F82"/>
                </a:solidFill>
                <a:latin typeface="微软雅黑" panose="020B0503020204020204" charset="-122"/>
                <a:ea typeface="微软雅黑" panose="020B0503020204020204" charset="-122"/>
                <a:cs typeface="微软雅黑" panose="020B0503020204020204" charset="-122"/>
              </a:defRPr>
            </a:pPr>
            <a:r>
              <a:rPr sz="1800" b="1">
                <a:solidFill>
                  <a:srgbClr val="087F82"/>
                </a:solidFill>
                <a:latin typeface="微软雅黑" panose="020B0503020204020204" charset="-122"/>
                <a:ea typeface="微软雅黑" panose="020B0503020204020204" charset="-122"/>
                <a:cs typeface="微软雅黑" panose="020B0503020204020204" charset="-122"/>
              </a:rPr>
              <a:t>新建日志</a:t>
            </a:r>
            <a:endParaRPr sz="1800"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8" name="text-43"/>
          <p:cNvSpPr>
            <a:spLocks noGrp="1"/>
          </p:cNvSpPr>
          <p:nvPr/>
        </p:nvSpPr>
        <p:spPr>
          <a:xfrm>
            <a:off x="762000" y="3781425"/>
            <a:ext cx="2333625" cy="857250"/>
          </a:xfrm>
          <a:prstGeom prst="rect">
            <a:avLst/>
          </a:prstGeom>
          <a:noFill/>
          <a:ln w="0">
            <a:noFill/>
          </a:ln>
        </p:spPr>
        <p:txBody>
          <a:bodyPr>
            <a:noAutofit/>
          </a:bodyPr>
          <a:lstStyle/>
          <a:p>
            <a:pPr algn="l">
              <a:defRPr sz="1800" b="0">
                <a:solidFill>
                  <a:srgbClr val="172D3B"/>
                </a:solidFill>
                <a:latin typeface="微软雅黑" panose="020B0503020204020204" charset="-122"/>
                <a:ea typeface="微软雅黑" panose="020B0503020204020204" charset="-122"/>
                <a:cs typeface="微软雅黑" panose="020B0503020204020204" charset="-122"/>
              </a:defRPr>
            </a:pPr>
            <a:r>
              <a:rPr sz="1800" b="0">
                <a:solidFill>
                  <a:srgbClr val="172D3B"/>
                </a:solidFill>
                <a:latin typeface="微软雅黑" panose="020B0503020204020204" charset="-122"/>
                <a:ea typeface="微软雅黑" panose="020B0503020204020204" charset="-122"/>
                <a:cs typeface="微软雅黑" panose="020B0503020204020204" charset="-122"/>
              </a:rPr>
              <a:t>完成接口联调</a:t>
            </a:r>
            <a:endParaRPr sz="1800" b="0">
              <a:solidFill>
                <a:srgbClr val="172D3B"/>
              </a:solidFill>
              <a:latin typeface="微软雅黑" panose="020B0503020204020204" charset="-122"/>
              <a:ea typeface="微软雅黑" panose="020B0503020204020204" charset="-122"/>
              <a:cs typeface="微软雅黑" panose="020B0503020204020204" charset="-122"/>
            </a:endParaRPr>
          </a:p>
          <a:p>
            <a:pPr algn="l">
              <a:defRPr sz="1800" b="0">
                <a:solidFill>
                  <a:srgbClr val="172D3B"/>
                </a:solidFill>
                <a:latin typeface="微软雅黑" panose="020B0503020204020204" charset="-122"/>
                <a:ea typeface="微软雅黑" panose="020B0503020204020204" charset="-122"/>
                <a:cs typeface="微软雅黑" panose="020B0503020204020204" charset="-122"/>
              </a:defRPr>
            </a:pPr>
            <a:r>
              <a:rPr sz="1800" b="0">
                <a:solidFill>
                  <a:srgbClr val="172D3B"/>
                </a:solidFill>
                <a:latin typeface="微软雅黑" panose="020B0503020204020204" charset="-122"/>
                <a:ea typeface="微软雅黑" panose="020B0503020204020204" charset="-122"/>
                <a:cs typeface="微软雅黑" panose="020B0503020204020204" charset="-122"/>
              </a:rPr>
              <a:t>查看详情 / 修改</a:t>
            </a:r>
            <a:endParaRPr sz="1800" b="0">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9" name="text-44"/>
          <p:cNvSpPr>
            <a:spLocks noGrp="1"/>
          </p:cNvSpPr>
          <p:nvPr/>
        </p:nvSpPr>
        <p:spPr>
          <a:xfrm>
            <a:off x="762000" y="4991100"/>
            <a:ext cx="2333625" cy="304800"/>
          </a:xfrm>
          <a:prstGeom prst="rect">
            <a:avLst/>
          </a:prstGeom>
          <a:noFill/>
          <a:ln w="0">
            <a:noFill/>
          </a:ln>
        </p:spPr>
        <p:txBody>
          <a:bodyPr>
            <a:noAutofit/>
          </a:bodyPr>
          <a:lstStyle/>
          <a:p>
            <a:pPr algn="l">
              <a:defRPr sz="1575" b="0">
                <a:solidFill>
                  <a:srgbClr val="576873"/>
                </a:solidFill>
                <a:latin typeface="微软雅黑" panose="020B0503020204020204" charset="-122"/>
                <a:ea typeface="微软雅黑" panose="020B0503020204020204" charset="-122"/>
                <a:cs typeface="微软雅黑" panose="020B0503020204020204" charset="-122"/>
              </a:defRPr>
            </a:pPr>
            <a:r>
              <a:rPr sz="1575" b="0">
                <a:solidFill>
                  <a:srgbClr val="576873"/>
                </a:solidFill>
                <a:latin typeface="微软雅黑" panose="020B0503020204020204" charset="-122"/>
                <a:ea typeface="微软雅黑" panose="020B0503020204020204" charset="-122"/>
                <a:cs typeface="微软雅黑" panose="020B0503020204020204" charset="-122"/>
              </a:rPr>
              <a:t>无记录时显示空状态</a:t>
            </a:r>
            <a:endParaRPr sz="157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10" name="diagram-45"/>
          <p:cNvSpPr>
            <a:spLocks noGrp="1"/>
          </p:cNvSpPr>
          <p:nvPr/>
        </p:nvSpPr>
        <p:spPr>
          <a:xfrm>
            <a:off x="3714750" y="1885950"/>
            <a:ext cx="2686050" cy="3619500"/>
          </a:xfrm>
          <a:prstGeom prst="rect">
            <a:avLst/>
          </a:prstGeom>
          <a:solidFill>
            <a:srgbClr val="FFFFFF"/>
          </a:solidFill>
          <a:ln w="14288">
            <a:solidFill>
              <a:srgbClr val="CDDAD9"/>
            </a:solidFill>
          </a:ln>
        </p:spPr>
      </p:sp>
      <p:sp>
        <p:nvSpPr>
          <p:cNvPr id="11" name="text-46"/>
          <p:cNvSpPr>
            <a:spLocks noGrp="1"/>
          </p:cNvSpPr>
          <p:nvPr/>
        </p:nvSpPr>
        <p:spPr>
          <a:xfrm>
            <a:off x="3867150" y="2019300"/>
            <a:ext cx="2352675" cy="361950"/>
          </a:xfrm>
          <a:prstGeom prst="rect">
            <a:avLst/>
          </a:prstGeom>
          <a:noFill/>
          <a:ln w="0">
            <a:noFill/>
          </a:ln>
        </p:spPr>
        <p:txBody>
          <a:bodyPr>
            <a:noAutofit/>
          </a:bodyPr>
          <a:lstStyle/>
          <a:p>
            <a:pPr algn="l">
              <a:defRPr sz="1950" b="1">
                <a:solidFill>
                  <a:srgbClr val="172D3B"/>
                </a:solidFill>
                <a:latin typeface="微软雅黑" panose="020B0503020204020204" charset="-122"/>
                <a:ea typeface="微软雅黑" panose="020B0503020204020204" charset="-122"/>
                <a:cs typeface="微软雅黑" panose="020B0503020204020204" charset="-122"/>
              </a:defRPr>
            </a:pPr>
            <a:r>
              <a:rPr sz="1950" b="1">
                <a:solidFill>
                  <a:srgbClr val="172D3B"/>
                </a:solidFill>
                <a:latin typeface="微软雅黑" panose="020B0503020204020204" charset="-122"/>
                <a:ea typeface="微软雅黑" panose="020B0503020204020204" charset="-122"/>
                <a:cs typeface="微软雅黑" panose="020B0503020204020204" charset="-122"/>
              </a:rPr>
              <a:t>填写工作日志</a:t>
            </a:r>
            <a:endParaRPr sz="1950"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12" name="text-47"/>
          <p:cNvSpPr>
            <a:spLocks noGrp="1"/>
          </p:cNvSpPr>
          <p:nvPr/>
        </p:nvSpPr>
        <p:spPr>
          <a:xfrm>
            <a:off x="3867150" y="2619375"/>
            <a:ext cx="2305050" cy="323850"/>
          </a:xfrm>
          <a:prstGeom prst="rect">
            <a:avLst/>
          </a:prstGeom>
          <a:noFill/>
          <a:ln w="0">
            <a:noFill/>
          </a:ln>
        </p:spPr>
        <p:txBody>
          <a:bodyPr>
            <a:noAutofit/>
          </a:bodyPr>
          <a:lstStyle/>
          <a:p>
            <a:pPr algn="l">
              <a:defRPr sz="1650" b="0">
                <a:solidFill>
                  <a:srgbClr val="172D3B"/>
                </a:solidFill>
                <a:latin typeface="微软雅黑" panose="020B0503020204020204" charset="-122"/>
                <a:ea typeface="微软雅黑" panose="020B0503020204020204" charset="-122"/>
                <a:cs typeface="微软雅黑" panose="020B0503020204020204" charset="-122"/>
              </a:defRPr>
            </a:pPr>
            <a:r>
              <a:rPr sz="1650" b="0">
                <a:solidFill>
                  <a:srgbClr val="172D3B"/>
                </a:solidFill>
                <a:latin typeface="微软雅黑" panose="020B0503020204020204" charset="-122"/>
                <a:ea typeface="微软雅黑" panose="020B0503020204020204" charset="-122"/>
                <a:cs typeface="微软雅黑" panose="020B0503020204020204" charset="-122"/>
              </a:rPr>
              <a:t>日期：今天</a:t>
            </a:r>
            <a:endParaRPr sz="1650" b="0">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13" name="diagram-48"/>
          <p:cNvSpPr>
            <a:spLocks noGrp="1"/>
          </p:cNvSpPr>
          <p:nvPr/>
        </p:nvSpPr>
        <p:spPr>
          <a:xfrm>
            <a:off x="3867150" y="3133725"/>
            <a:ext cx="2343150" cy="1285875"/>
          </a:xfrm>
          <a:prstGeom prst="rect">
            <a:avLst/>
          </a:prstGeom>
          <a:solidFill>
            <a:srgbClr val="F8FAFA"/>
          </a:solidFill>
          <a:ln w="14288">
            <a:solidFill>
              <a:srgbClr val="CDDAD9"/>
            </a:solidFill>
          </a:ln>
        </p:spPr>
      </p:sp>
      <p:sp>
        <p:nvSpPr>
          <p:cNvPr id="14" name="text-49"/>
          <p:cNvSpPr>
            <a:spLocks noGrp="1"/>
          </p:cNvSpPr>
          <p:nvPr/>
        </p:nvSpPr>
        <p:spPr>
          <a:xfrm>
            <a:off x="3962400" y="3305175"/>
            <a:ext cx="2124075" cy="7620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工作内容</a:t>
            </a:r>
            <a:endParaRPr sz="1725" b="0">
              <a:solidFill>
                <a:srgbClr val="576873"/>
              </a:solidFill>
              <a:latin typeface="微软雅黑" panose="020B0503020204020204" charset="-122"/>
              <a:ea typeface="微软雅黑" panose="020B0503020204020204" charset="-122"/>
              <a:cs typeface="微软雅黑" panose="020B0503020204020204" charset="-122"/>
            </a:endParaRPr>
          </a:p>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请输入今天的记录</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15" name="text-50"/>
          <p:cNvSpPr>
            <a:spLocks noGrp="1"/>
          </p:cNvSpPr>
          <p:nvPr/>
        </p:nvSpPr>
        <p:spPr>
          <a:xfrm>
            <a:off x="3867150" y="4810125"/>
            <a:ext cx="2305050" cy="352425"/>
          </a:xfrm>
          <a:prstGeom prst="rect">
            <a:avLst/>
          </a:prstGeom>
          <a:noFill/>
          <a:ln w="0">
            <a:noFill/>
          </a:ln>
        </p:spPr>
        <p:txBody>
          <a:bodyPr>
            <a:noAutofit/>
          </a:bodyPr>
          <a:lstStyle/>
          <a:p>
            <a:pPr algn="l">
              <a:defRPr sz="1875" b="1">
                <a:solidFill>
                  <a:srgbClr val="087F82"/>
                </a:solidFill>
                <a:latin typeface="微软雅黑" panose="020B0503020204020204" charset="-122"/>
                <a:ea typeface="微软雅黑" panose="020B0503020204020204" charset="-122"/>
                <a:cs typeface="微软雅黑" panose="020B0503020204020204" charset="-122"/>
              </a:defRPr>
            </a:pPr>
            <a:r>
              <a:rPr sz="1875" b="1">
                <a:solidFill>
                  <a:srgbClr val="087F82"/>
                </a:solidFill>
                <a:latin typeface="微软雅黑" panose="020B0503020204020204" charset="-122"/>
                <a:ea typeface="微软雅黑" panose="020B0503020204020204" charset="-122"/>
                <a:cs typeface="微软雅黑" panose="020B0503020204020204" charset="-122"/>
              </a:rPr>
              <a:t>保存</a:t>
            </a:r>
            <a:endParaRPr sz="187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16" name="diagram-51"/>
          <p:cNvSpPr>
            <a:spLocks noGrp="1"/>
          </p:cNvSpPr>
          <p:nvPr/>
        </p:nvSpPr>
        <p:spPr>
          <a:xfrm>
            <a:off x="6896100" y="1885950"/>
            <a:ext cx="4686300" cy="3619500"/>
          </a:xfrm>
          <a:prstGeom prst="rect">
            <a:avLst/>
          </a:prstGeom>
          <a:solidFill>
            <a:srgbClr val="FFFFFF"/>
          </a:solidFill>
          <a:ln w="14288">
            <a:solidFill>
              <a:srgbClr val="CDDAD9"/>
            </a:solidFill>
          </a:ln>
        </p:spPr>
      </p:sp>
      <p:sp>
        <p:nvSpPr>
          <p:cNvPr id="17" name="text-52"/>
          <p:cNvSpPr>
            <a:spLocks noGrp="1"/>
          </p:cNvSpPr>
          <p:nvPr/>
        </p:nvSpPr>
        <p:spPr>
          <a:xfrm>
            <a:off x="7086600" y="2019300"/>
            <a:ext cx="4257675" cy="361950"/>
          </a:xfrm>
          <a:prstGeom prst="rect">
            <a:avLst/>
          </a:prstGeom>
          <a:noFill/>
          <a:ln w="0">
            <a:noFill/>
          </a:ln>
        </p:spPr>
        <p:txBody>
          <a:bodyPr>
            <a:noAutofit/>
          </a:bodyPr>
          <a:lstStyle/>
          <a:p>
            <a:pPr algn="l">
              <a:defRPr sz="1950" b="1">
                <a:solidFill>
                  <a:srgbClr val="172D3B"/>
                </a:solidFill>
                <a:latin typeface="微软雅黑" panose="020B0503020204020204" charset="-122"/>
                <a:ea typeface="微软雅黑" panose="020B0503020204020204" charset="-122"/>
                <a:cs typeface="微软雅黑" panose="020B0503020204020204" charset="-122"/>
              </a:defRPr>
            </a:pPr>
            <a:r>
              <a:rPr sz="1950" b="1">
                <a:solidFill>
                  <a:srgbClr val="172D3B"/>
                </a:solidFill>
                <a:latin typeface="微软雅黑" panose="020B0503020204020204" charset="-122"/>
                <a:ea typeface="微软雅黑" panose="020B0503020204020204" charset="-122"/>
                <a:cs typeface="微软雅黑" panose="020B0503020204020204" charset="-122"/>
              </a:rPr>
              <a:t>上级 Web 查询</a:t>
            </a:r>
            <a:endParaRPr sz="1950"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18" name="text-53"/>
          <p:cNvSpPr>
            <a:spLocks noGrp="1"/>
          </p:cNvSpPr>
          <p:nvPr/>
        </p:nvSpPr>
        <p:spPr>
          <a:xfrm>
            <a:off x="7086600" y="2657475"/>
            <a:ext cx="4257675" cy="333375"/>
          </a:xfrm>
          <a:prstGeom prst="rect">
            <a:avLst/>
          </a:prstGeom>
          <a:noFill/>
          <a:ln w="0">
            <a:noFill/>
          </a:ln>
        </p:spPr>
        <p:txBody>
          <a:bodyPr>
            <a:noAutofit/>
          </a:bodyPr>
          <a:lstStyle/>
          <a:p>
            <a:pPr algn="l">
              <a:defRPr sz="1800" b="0">
                <a:solidFill>
                  <a:srgbClr val="087F82"/>
                </a:solidFill>
                <a:latin typeface="微软雅黑" panose="020B0503020204020204" charset="-122"/>
                <a:ea typeface="微软雅黑" panose="020B0503020204020204" charset="-122"/>
                <a:cs typeface="微软雅黑" panose="020B0503020204020204" charset="-122"/>
              </a:defRPr>
            </a:pPr>
            <a:r>
              <a:rPr sz="1800" b="0">
                <a:solidFill>
                  <a:srgbClr val="087F82"/>
                </a:solidFill>
                <a:latin typeface="微软雅黑" panose="020B0503020204020204" charset="-122"/>
                <a:ea typeface="微软雅黑" panose="020B0503020204020204" charset="-122"/>
                <a:cs typeface="微软雅黑" panose="020B0503020204020204" charset="-122"/>
              </a:rPr>
              <a:t>成员筛选      日期筛选</a:t>
            </a:r>
            <a:endParaRPr sz="1800" b="0">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19" name="text-54"/>
          <p:cNvSpPr>
            <a:spLocks noGrp="1"/>
          </p:cNvSpPr>
          <p:nvPr/>
        </p:nvSpPr>
        <p:spPr>
          <a:xfrm>
            <a:off x="7086600" y="3362325"/>
            <a:ext cx="4257675" cy="361950"/>
          </a:xfrm>
          <a:prstGeom prst="rect">
            <a:avLst/>
          </a:prstGeom>
          <a:noFill/>
          <a:ln w="0">
            <a:noFill/>
          </a:ln>
        </p:spPr>
        <p:txBody>
          <a:bodyPr>
            <a:noAutofit/>
          </a:bodyPr>
          <a:lstStyle/>
          <a:p>
            <a:pPr algn="l">
              <a:defRPr sz="1800" b="1">
                <a:solidFill>
                  <a:srgbClr val="172D3B"/>
                </a:solidFill>
                <a:latin typeface="微软雅黑" panose="020B0503020204020204" charset="-122"/>
                <a:ea typeface="微软雅黑" panose="020B0503020204020204" charset="-122"/>
                <a:cs typeface="微软雅黑" panose="020B0503020204020204" charset="-122"/>
              </a:defRPr>
            </a:pPr>
            <a:r>
              <a:rPr sz="1800" b="1">
                <a:solidFill>
                  <a:srgbClr val="172D3B"/>
                </a:solidFill>
                <a:latin typeface="微软雅黑" panose="020B0503020204020204" charset="-122"/>
                <a:ea typeface="微软雅黑" panose="020B0503020204020204" charset="-122"/>
                <a:cs typeface="微软雅黑" panose="020B0503020204020204" charset="-122"/>
              </a:rPr>
              <a:t>成员 A   2026-09-24</a:t>
            </a:r>
            <a:endParaRPr sz="1800"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20" name="text-55"/>
          <p:cNvSpPr>
            <a:spLocks noGrp="1"/>
          </p:cNvSpPr>
          <p:nvPr/>
        </p:nvSpPr>
        <p:spPr>
          <a:xfrm>
            <a:off x="7086600" y="3924300"/>
            <a:ext cx="4257675" cy="809625"/>
          </a:xfrm>
          <a:prstGeom prst="rect">
            <a:avLst/>
          </a:prstGeom>
          <a:noFill/>
          <a:ln w="0">
            <a:noFill/>
          </a:ln>
        </p:spPr>
        <p:txBody>
          <a:bodyPr>
            <a:noAutofit/>
          </a:bodyPr>
          <a:lstStyle/>
          <a:p>
            <a:pPr algn="l">
              <a:defRPr sz="1800" b="0">
                <a:solidFill>
                  <a:srgbClr val="172D3B"/>
                </a:solidFill>
                <a:latin typeface="微软雅黑" panose="020B0503020204020204" charset="-122"/>
                <a:ea typeface="微软雅黑" panose="020B0503020204020204" charset="-122"/>
                <a:cs typeface="微软雅黑" panose="020B0503020204020204" charset="-122"/>
              </a:defRPr>
            </a:pPr>
            <a:r>
              <a:rPr sz="1800" b="0">
                <a:solidFill>
                  <a:srgbClr val="172D3B"/>
                </a:solidFill>
                <a:latin typeface="微软雅黑" panose="020B0503020204020204" charset="-122"/>
                <a:ea typeface="微软雅黑" panose="020B0503020204020204" charset="-122"/>
                <a:cs typeface="微软雅黑" panose="020B0503020204020204" charset="-122"/>
              </a:rPr>
              <a:t>完成接口联调</a:t>
            </a:r>
            <a:endParaRPr sz="1800" b="0">
              <a:solidFill>
                <a:srgbClr val="172D3B"/>
              </a:solidFill>
              <a:latin typeface="微软雅黑" panose="020B0503020204020204" charset="-122"/>
              <a:ea typeface="微软雅黑" panose="020B0503020204020204" charset="-122"/>
              <a:cs typeface="微软雅黑" panose="020B0503020204020204" charset="-122"/>
            </a:endParaRPr>
          </a:p>
          <a:p>
            <a:pPr algn="l">
              <a:defRPr sz="1800" b="0">
                <a:solidFill>
                  <a:srgbClr val="172D3B"/>
                </a:solidFill>
                <a:latin typeface="微软雅黑" panose="020B0503020204020204" charset="-122"/>
                <a:ea typeface="微软雅黑" panose="020B0503020204020204" charset="-122"/>
                <a:cs typeface="微软雅黑" panose="020B0503020204020204" charset="-122"/>
              </a:defRPr>
            </a:pPr>
            <a:r>
              <a:rPr sz="1800" b="0">
                <a:solidFill>
                  <a:srgbClr val="172D3B"/>
                </a:solidFill>
                <a:latin typeface="微软雅黑" panose="020B0503020204020204" charset="-122"/>
                <a:ea typeface="微软雅黑" panose="020B0503020204020204" charset="-122"/>
                <a:cs typeface="微软雅黑" panose="020B0503020204020204" charset="-122"/>
              </a:rPr>
              <a:t>点击查看日志详情</a:t>
            </a:r>
            <a:endParaRPr sz="1800" b="0">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21" name="text-56"/>
          <p:cNvSpPr>
            <a:spLocks noGrp="1"/>
          </p:cNvSpPr>
          <p:nvPr/>
        </p:nvSpPr>
        <p:spPr>
          <a:xfrm>
            <a:off x="7086600" y="5038725"/>
            <a:ext cx="4257675" cy="323850"/>
          </a:xfrm>
          <a:prstGeom prst="rect">
            <a:avLst/>
          </a:prstGeom>
          <a:noFill/>
          <a:ln w="0">
            <a:noFill/>
          </a:ln>
        </p:spPr>
        <p:txBody>
          <a:bodyPr>
            <a:noAutofit/>
          </a:bodyPr>
          <a:lstStyle/>
          <a:p>
            <a:pPr algn="l">
              <a:defRPr sz="1575" b="0">
                <a:solidFill>
                  <a:srgbClr val="576873"/>
                </a:solidFill>
                <a:latin typeface="微软雅黑" panose="020B0503020204020204" charset="-122"/>
                <a:ea typeface="微软雅黑" panose="020B0503020204020204" charset="-122"/>
                <a:cs typeface="微软雅黑" panose="020B0503020204020204" charset="-122"/>
              </a:defRPr>
            </a:pPr>
            <a:r>
              <a:rPr sz="1575" b="0">
                <a:solidFill>
                  <a:srgbClr val="576873"/>
                </a:solidFill>
                <a:latin typeface="微软雅黑" panose="020B0503020204020204" charset="-122"/>
                <a:ea typeface="微软雅黑" panose="020B0503020204020204" charset="-122"/>
                <a:cs typeface="微软雅黑" panose="020B0503020204020204" charset="-122"/>
              </a:rPr>
              <a:t>仅展示授权范围内的成员</a:t>
            </a:r>
            <a:endParaRPr sz="157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22" name="text-57"/>
          <p:cNvSpPr>
            <a:spLocks noGrp="1"/>
          </p:cNvSpPr>
          <p:nvPr/>
        </p:nvSpPr>
        <p:spPr>
          <a:xfrm>
            <a:off x="628650" y="5772150"/>
            <a:ext cx="10763250" cy="352425"/>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录入字段：日志日期、工作内容；作者和保存时间由系统记录。</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23" name="text-58"/>
          <p:cNvSpPr>
            <a:spLocks noGrp="1"/>
          </p:cNvSpPr>
          <p:nvPr/>
        </p:nvSpPr>
        <p:spPr>
          <a:xfrm>
            <a:off x="628650" y="6124575"/>
            <a:ext cx="10763250" cy="32385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保存成功返回列表并展示记录；失败时保留输入，支持修改后重试。</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cxnSp>
        <p:nvCxnSpPr>
          <p:cNvPr id="25" name="肘形连接符 24"/>
          <p:cNvCxnSpPr>
            <a:stCxn id="9" idx="3"/>
            <a:endCxn id="10" idx="1"/>
          </p:cNvCxnSpPr>
          <p:nvPr/>
        </p:nvCxnSpPr>
        <p:spPr>
          <a:xfrm flipV="1">
            <a:off x="7762875" y="3490913"/>
            <a:ext cx="1219200" cy="23813"/>
          </a:xfrm>
          <a:prstGeom prst="bentConnector3">
            <a:avLst>
              <a:gd name="adj1" fmla="val 50000"/>
            </a:avLst>
          </a:prstGeom>
          <a:ln w="19050">
            <a:solidFill>
              <a:srgbClr val="087F82"/>
            </a:solidFill>
            <a:headEnd type="arrow" w="med" len="med"/>
            <a:tailEnd type="arrow" w="med" len="med"/>
          </a:ln>
        </p:spPr>
      </p:cxnSp>
      <p:cxnSp>
        <p:nvCxnSpPr>
          <p:cNvPr id="26" name="肘形连接符 25"/>
          <p:cNvCxnSpPr>
            <a:stCxn id="8" idx="3"/>
            <a:endCxn id="9" idx="1"/>
          </p:cNvCxnSpPr>
          <p:nvPr/>
        </p:nvCxnSpPr>
        <p:spPr>
          <a:xfrm flipV="1">
            <a:off x="3657600" y="3514725"/>
            <a:ext cx="914400" cy="809625"/>
          </a:xfrm>
          <a:prstGeom prst="bentConnector3">
            <a:avLst>
              <a:gd name="adj1" fmla="val 50000"/>
            </a:avLst>
          </a:prstGeom>
          <a:ln w="19050">
            <a:solidFill>
              <a:srgbClr val="087F82"/>
            </a:solidFill>
            <a:headEnd type="arrow" w="med" len="med"/>
            <a:tailEnd type="arrow" w="med" len="med"/>
          </a:ln>
        </p:spPr>
      </p:cxnSp>
      <p:cxnSp>
        <p:nvCxnSpPr>
          <p:cNvPr id="27" name="肘形连接符 26"/>
          <p:cNvCxnSpPr>
            <a:stCxn id="7" idx="3"/>
            <a:endCxn id="9" idx="1"/>
          </p:cNvCxnSpPr>
          <p:nvPr/>
        </p:nvCxnSpPr>
        <p:spPr>
          <a:xfrm>
            <a:off x="3657600" y="2719388"/>
            <a:ext cx="914400" cy="795338"/>
          </a:xfrm>
          <a:prstGeom prst="bentConnector3">
            <a:avLst>
              <a:gd name="adj1" fmla="val 50000"/>
            </a:avLst>
          </a:prstGeom>
          <a:ln w="19050">
            <a:solidFill>
              <a:srgbClr val="087F82"/>
            </a:solidFill>
            <a:headEnd type="arrow" w="med" len="med"/>
            <a:tailEnd type="arrow" w="med" len="med"/>
          </a:ln>
        </p:spPr>
      </p:cxnSp>
      <p:sp>
        <p:nvSpPr>
          <p:cNvPr id="28" name="text-59"/>
          <p:cNvSpPr>
            <a:spLocks noGrp="1"/>
          </p:cNvSpPr>
          <p:nvPr/>
        </p:nvSpPr>
        <p:spPr>
          <a:xfrm>
            <a:off x="609600" y="381000"/>
            <a:ext cx="10972800" cy="609600"/>
          </a:xfrm>
          <a:prstGeom prst="rect">
            <a:avLst/>
          </a:prstGeom>
          <a:noFill/>
          <a:ln w="0">
            <a:noFill/>
          </a:ln>
        </p:spPr>
        <p:txBody>
          <a:bodyPr>
            <a:noAutofit/>
          </a:bodyPr>
          <a:lstStyle/>
          <a:p>
            <a:pPr algn="l">
              <a:defRPr sz="3225" b="1">
                <a:solidFill>
                  <a:srgbClr val="172D3B"/>
                </a:solidFill>
                <a:latin typeface="微软雅黑" panose="020B0503020204020204" charset="-122"/>
                <a:ea typeface="微软雅黑" panose="020B0503020204020204" charset="-122"/>
                <a:cs typeface="微软雅黑" panose="020B0503020204020204" charset="-122"/>
              </a:defRPr>
            </a:pPr>
            <a:r>
              <a:rPr sz="3225" b="1">
                <a:solidFill>
                  <a:srgbClr val="172D3B"/>
                </a:solidFill>
                <a:latin typeface="微软雅黑" panose="020B0503020204020204" charset="-122"/>
                <a:ea typeface="微软雅黑" panose="020B0503020204020204" charset="-122"/>
                <a:cs typeface="微软雅黑" panose="020B0503020204020204" charset="-122"/>
              </a:rPr>
              <a:t>技术选型与三层架构</a:t>
            </a:r>
            <a:endParaRPr sz="322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2" name="text-60"/>
          <p:cNvSpPr>
            <a:spLocks noGrp="1"/>
          </p:cNvSpPr>
          <p:nvPr/>
        </p:nvSpPr>
        <p:spPr>
          <a:xfrm>
            <a:off x="628650" y="1057275"/>
            <a:ext cx="10934700" cy="4572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采用单体三层架构，Android 与 Web 共用接口和数据库</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3" name="text-61"/>
          <p:cNvSpPr>
            <a:spLocks noGrp="1"/>
          </p:cNvSpPr>
          <p:nvPr/>
        </p:nvSpPr>
        <p:spPr>
          <a:xfrm>
            <a:off x="10953750" y="6419850"/>
            <a:ext cx="590550" cy="238125"/>
          </a:xfrm>
          <a:prstGeom prst="rect">
            <a:avLst/>
          </a:prstGeom>
          <a:noFill/>
          <a:ln w="0">
            <a:noFill/>
          </a:ln>
        </p:spPr>
        <p:txBody>
          <a:bodyPr>
            <a:noAutofit/>
          </a:bodyPr>
          <a:lstStyle/>
          <a:p>
            <a:pPr algn="r">
              <a:defRPr sz="1275" b="0">
                <a:solidFill>
                  <a:srgbClr val="576873"/>
                </a:solidFill>
                <a:latin typeface="微软雅黑" panose="020B0503020204020204" charset="-122"/>
                <a:ea typeface="微软雅黑" panose="020B0503020204020204" charset="-122"/>
                <a:cs typeface="微软雅黑" panose="020B0503020204020204" charset="-122"/>
              </a:defRPr>
            </a:pPr>
            <a:r>
              <a:rPr sz="1275" b="0">
                <a:solidFill>
                  <a:srgbClr val="576873"/>
                </a:solidFill>
                <a:latin typeface="微软雅黑" panose="020B0503020204020204" charset="-122"/>
                <a:ea typeface="微软雅黑" panose="020B0503020204020204" charset="-122"/>
                <a:cs typeface="微软雅黑" panose="020B0503020204020204" charset="-122"/>
              </a:rPr>
              <a:t>06</a:t>
            </a:r>
            <a:endParaRPr sz="127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4" name="text-62"/>
          <p:cNvSpPr>
            <a:spLocks noGrp="1"/>
          </p:cNvSpPr>
          <p:nvPr/>
        </p:nvSpPr>
        <p:spPr>
          <a:xfrm>
            <a:off x="628650" y="1657350"/>
            <a:ext cx="3048000" cy="361950"/>
          </a:xfrm>
          <a:prstGeom prst="rect">
            <a:avLst/>
          </a:prstGeom>
          <a:noFill/>
          <a:ln w="0">
            <a:noFill/>
          </a:ln>
        </p:spPr>
        <p:txBody>
          <a:bodyPr>
            <a:noAutofit/>
          </a:bodyPr>
          <a:lstStyle/>
          <a:p>
            <a:pPr algn="l">
              <a:defRPr sz="2025" b="1">
                <a:solidFill>
                  <a:srgbClr val="087F82"/>
                </a:solidFill>
                <a:latin typeface="微软雅黑" panose="020B0503020204020204" charset="-122"/>
                <a:ea typeface="微软雅黑" panose="020B0503020204020204" charset="-122"/>
                <a:cs typeface="微软雅黑" panose="020B0503020204020204" charset="-122"/>
              </a:defRPr>
            </a:pPr>
            <a:r>
              <a:rPr sz="2025" b="1">
                <a:solidFill>
                  <a:srgbClr val="087F82"/>
                </a:solidFill>
                <a:latin typeface="微软雅黑" panose="020B0503020204020204" charset="-122"/>
                <a:ea typeface="微软雅黑" panose="020B0503020204020204" charset="-122"/>
                <a:cs typeface="微软雅黑" panose="020B0503020204020204" charset="-122"/>
              </a:rPr>
              <a:t>表现层</a:t>
            </a:r>
            <a:endParaRPr sz="202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5" name="text-63"/>
          <p:cNvSpPr>
            <a:spLocks noGrp="1"/>
          </p:cNvSpPr>
          <p:nvPr/>
        </p:nvSpPr>
        <p:spPr>
          <a:xfrm>
            <a:off x="4572000" y="1657350"/>
            <a:ext cx="3190875" cy="361950"/>
          </a:xfrm>
          <a:prstGeom prst="rect">
            <a:avLst/>
          </a:prstGeom>
          <a:noFill/>
          <a:ln w="0">
            <a:noFill/>
          </a:ln>
        </p:spPr>
        <p:txBody>
          <a:bodyPr>
            <a:noAutofit/>
          </a:bodyPr>
          <a:lstStyle/>
          <a:p>
            <a:pPr algn="l">
              <a:defRPr sz="2025" b="1">
                <a:solidFill>
                  <a:srgbClr val="087F82"/>
                </a:solidFill>
                <a:latin typeface="微软雅黑" panose="020B0503020204020204" charset="-122"/>
                <a:ea typeface="微软雅黑" panose="020B0503020204020204" charset="-122"/>
                <a:cs typeface="微软雅黑" panose="020B0503020204020204" charset="-122"/>
              </a:defRPr>
            </a:pPr>
            <a:r>
              <a:rPr sz="2025" b="1">
                <a:solidFill>
                  <a:srgbClr val="087F82"/>
                </a:solidFill>
                <a:latin typeface="微软雅黑" panose="020B0503020204020204" charset="-122"/>
                <a:ea typeface="微软雅黑" panose="020B0503020204020204" charset="-122"/>
                <a:cs typeface="微软雅黑" panose="020B0503020204020204" charset="-122"/>
              </a:rPr>
              <a:t>业务层</a:t>
            </a:r>
            <a:endParaRPr sz="202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6" name="text-64"/>
          <p:cNvSpPr>
            <a:spLocks noGrp="1"/>
          </p:cNvSpPr>
          <p:nvPr/>
        </p:nvSpPr>
        <p:spPr>
          <a:xfrm>
            <a:off x="8982075" y="1657350"/>
            <a:ext cx="2590800" cy="361950"/>
          </a:xfrm>
          <a:prstGeom prst="rect">
            <a:avLst/>
          </a:prstGeom>
          <a:noFill/>
          <a:ln w="0">
            <a:noFill/>
          </a:ln>
        </p:spPr>
        <p:txBody>
          <a:bodyPr>
            <a:noAutofit/>
          </a:bodyPr>
          <a:lstStyle/>
          <a:p>
            <a:pPr algn="l">
              <a:defRPr sz="2025" b="1">
                <a:solidFill>
                  <a:srgbClr val="087F82"/>
                </a:solidFill>
                <a:latin typeface="微软雅黑" panose="020B0503020204020204" charset="-122"/>
                <a:ea typeface="微软雅黑" panose="020B0503020204020204" charset="-122"/>
                <a:cs typeface="微软雅黑" panose="020B0503020204020204" charset="-122"/>
              </a:defRPr>
            </a:pPr>
            <a:r>
              <a:rPr sz="2025" b="1">
                <a:solidFill>
                  <a:srgbClr val="087F82"/>
                </a:solidFill>
                <a:latin typeface="微软雅黑" panose="020B0503020204020204" charset="-122"/>
                <a:ea typeface="微软雅黑" panose="020B0503020204020204" charset="-122"/>
                <a:cs typeface="微软雅黑" panose="020B0503020204020204" charset="-122"/>
              </a:rPr>
              <a:t>数据层</a:t>
            </a:r>
            <a:endParaRPr sz="202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7" name="diagram-65"/>
          <p:cNvSpPr>
            <a:spLocks noGrp="1"/>
          </p:cNvSpPr>
          <p:nvPr/>
        </p:nvSpPr>
        <p:spPr>
          <a:xfrm>
            <a:off x="609600" y="2133600"/>
            <a:ext cx="3048000" cy="1171575"/>
          </a:xfrm>
          <a:prstGeom prst="rect">
            <a:avLst/>
          </a:prstGeom>
          <a:solidFill>
            <a:srgbClr val="FFFFFF"/>
          </a:solidFill>
          <a:ln w="14288">
            <a:solidFill>
              <a:srgbClr val="CDDAD9"/>
            </a:solidFill>
          </a:ln>
        </p:spPr>
      </p:sp>
      <p:sp>
        <p:nvSpPr>
          <p:cNvPr id="8" name="diagram-66"/>
          <p:cNvSpPr>
            <a:spLocks noGrp="1"/>
          </p:cNvSpPr>
          <p:nvPr/>
        </p:nvSpPr>
        <p:spPr>
          <a:xfrm>
            <a:off x="609600" y="3667125"/>
            <a:ext cx="3048000" cy="1314450"/>
          </a:xfrm>
          <a:prstGeom prst="rect">
            <a:avLst/>
          </a:prstGeom>
          <a:solidFill>
            <a:srgbClr val="FFFFFF"/>
          </a:solidFill>
          <a:ln w="14288">
            <a:solidFill>
              <a:srgbClr val="CDDAD9"/>
            </a:solidFill>
          </a:ln>
        </p:spPr>
      </p:sp>
      <p:sp>
        <p:nvSpPr>
          <p:cNvPr id="9" name="diagram-67"/>
          <p:cNvSpPr>
            <a:spLocks noGrp="1"/>
          </p:cNvSpPr>
          <p:nvPr/>
        </p:nvSpPr>
        <p:spPr>
          <a:xfrm>
            <a:off x="4572000" y="2524125"/>
            <a:ext cx="3190875" cy="1981200"/>
          </a:xfrm>
          <a:prstGeom prst="rect">
            <a:avLst/>
          </a:prstGeom>
          <a:solidFill>
            <a:srgbClr val="EAF3F2"/>
          </a:solidFill>
          <a:ln w="14288">
            <a:solidFill>
              <a:srgbClr val="CDDAD9"/>
            </a:solidFill>
          </a:ln>
        </p:spPr>
      </p:sp>
      <p:sp>
        <p:nvSpPr>
          <p:cNvPr id="10" name="diagram-68"/>
          <p:cNvSpPr>
            <a:spLocks noGrp="1"/>
          </p:cNvSpPr>
          <p:nvPr/>
        </p:nvSpPr>
        <p:spPr>
          <a:xfrm>
            <a:off x="8982075" y="2762250"/>
            <a:ext cx="2590800" cy="1457325"/>
          </a:xfrm>
          <a:prstGeom prst="rect">
            <a:avLst/>
          </a:prstGeom>
          <a:solidFill>
            <a:srgbClr val="FFFFFF"/>
          </a:solidFill>
          <a:ln w="14288">
            <a:solidFill>
              <a:srgbClr val="CDDAD9"/>
            </a:solidFill>
          </a:ln>
        </p:spPr>
      </p:sp>
      <p:sp>
        <p:nvSpPr>
          <p:cNvPr id="11" name="text-69"/>
          <p:cNvSpPr>
            <a:spLocks noGrp="1"/>
          </p:cNvSpPr>
          <p:nvPr/>
        </p:nvSpPr>
        <p:spPr>
          <a:xfrm>
            <a:off x="762000" y="2266950"/>
            <a:ext cx="2762250" cy="361950"/>
          </a:xfrm>
          <a:prstGeom prst="rect">
            <a:avLst/>
          </a:prstGeom>
          <a:noFill/>
          <a:ln w="0">
            <a:noFill/>
          </a:ln>
        </p:spPr>
        <p:txBody>
          <a:bodyPr>
            <a:noAutofit/>
          </a:bodyPr>
          <a:lstStyle/>
          <a:p>
            <a:pPr algn="l">
              <a:defRPr sz="2025" b="1">
                <a:solidFill>
                  <a:srgbClr val="172D3B"/>
                </a:solidFill>
                <a:latin typeface="微软雅黑" panose="020B0503020204020204" charset="-122"/>
                <a:ea typeface="微软雅黑" panose="020B0503020204020204" charset="-122"/>
                <a:cs typeface="微软雅黑" panose="020B0503020204020204" charset="-122"/>
              </a:defRPr>
            </a:pPr>
            <a:r>
              <a:rPr sz="2025" b="1">
                <a:solidFill>
                  <a:srgbClr val="172D3B"/>
                </a:solidFill>
                <a:latin typeface="微软雅黑" panose="020B0503020204020204" charset="-122"/>
                <a:ea typeface="微软雅黑" panose="020B0503020204020204" charset="-122"/>
                <a:cs typeface="微软雅黑" panose="020B0503020204020204" charset="-122"/>
              </a:rPr>
              <a:t>Android 员工端</a:t>
            </a:r>
            <a:endParaRPr sz="202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12" name="text-70"/>
          <p:cNvSpPr>
            <a:spLocks noGrp="1"/>
          </p:cNvSpPr>
          <p:nvPr/>
        </p:nvSpPr>
        <p:spPr>
          <a:xfrm>
            <a:off x="762000" y="2771775"/>
            <a:ext cx="2762250" cy="342900"/>
          </a:xfrm>
          <a:prstGeom prst="rect">
            <a:avLst/>
          </a:prstGeom>
          <a:noFill/>
          <a:ln w="0">
            <a:noFill/>
          </a:ln>
        </p:spPr>
        <p:txBody>
          <a:bodyPr>
            <a:noAutofit/>
          </a:bodyPr>
          <a:lstStyle/>
          <a:p>
            <a:pPr algn="l">
              <a:defRPr sz="1800" b="0">
                <a:solidFill>
                  <a:srgbClr val="172D3B"/>
                </a:solidFill>
                <a:latin typeface="微软雅黑" panose="020B0503020204020204" charset="-122"/>
                <a:ea typeface="微软雅黑" panose="020B0503020204020204" charset="-122"/>
                <a:cs typeface="微软雅黑" panose="020B0503020204020204" charset="-122"/>
              </a:defRPr>
            </a:pPr>
            <a:r>
              <a:rPr sz="1800" b="0">
                <a:solidFill>
                  <a:srgbClr val="172D3B"/>
                </a:solidFill>
                <a:latin typeface="微软雅黑" panose="020B0503020204020204" charset="-122"/>
                <a:ea typeface="微软雅黑" panose="020B0503020204020204" charset="-122"/>
                <a:cs typeface="微软雅黑" panose="020B0503020204020204" charset="-122"/>
              </a:rPr>
              <a:t>Kotlin / Compose</a:t>
            </a:r>
            <a:endParaRPr sz="1800" b="0">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13" name="text-71"/>
          <p:cNvSpPr>
            <a:spLocks noGrp="1"/>
          </p:cNvSpPr>
          <p:nvPr/>
        </p:nvSpPr>
        <p:spPr>
          <a:xfrm>
            <a:off x="762000" y="3800475"/>
            <a:ext cx="2762250" cy="361950"/>
          </a:xfrm>
          <a:prstGeom prst="rect">
            <a:avLst/>
          </a:prstGeom>
          <a:noFill/>
          <a:ln w="0">
            <a:noFill/>
          </a:ln>
        </p:spPr>
        <p:txBody>
          <a:bodyPr>
            <a:noAutofit/>
          </a:bodyPr>
          <a:lstStyle/>
          <a:p>
            <a:pPr algn="l">
              <a:defRPr sz="2025" b="1">
                <a:solidFill>
                  <a:srgbClr val="172D3B"/>
                </a:solidFill>
                <a:latin typeface="微软雅黑" panose="020B0503020204020204" charset="-122"/>
                <a:ea typeface="微软雅黑" panose="020B0503020204020204" charset="-122"/>
                <a:cs typeface="微软雅黑" panose="020B0503020204020204" charset="-122"/>
              </a:defRPr>
            </a:pPr>
            <a:r>
              <a:rPr sz="2025" b="1">
                <a:solidFill>
                  <a:srgbClr val="172D3B"/>
                </a:solidFill>
                <a:latin typeface="微软雅黑" panose="020B0503020204020204" charset="-122"/>
                <a:ea typeface="微软雅黑" panose="020B0503020204020204" charset="-122"/>
                <a:cs typeface="微软雅黑" panose="020B0503020204020204" charset="-122"/>
              </a:rPr>
              <a:t>Web 管理端</a:t>
            </a:r>
            <a:endParaRPr sz="202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14" name="text-72"/>
          <p:cNvSpPr>
            <a:spLocks noGrp="1"/>
          </p:cNvSpPr>
          <p:nvPr/>
        </p:nvSpPr>
        <p:spPr>
          <a:xfrm>
            <a:off x="762000" y="4276725"/>
            <a:ext cx="2762250" cy="647700"/>
          </a:xfrm>
          <a:prstGeom prst="rect">
            <a:avLst/>
          </a:prstGeom>
          <a:noFill/>
          <a:ln w="0">
            <a:noFill/>
          </a:ln>
        </p:spPr>
        <p:txBody>
          <a:bodyPr>
            <a:noAutofit/>
          </a:bodyPr>
          <a:lstStyle/>
          <a:p>
            <a:pPr algn="l">
              <a:defRPr sz="1800" b="0">
                <a:solidFill>
                  <a:srgbClr val="172D3B"/>
                </a:solidFill>
                <a:latin typeface="微软雅黑" panose="020B0503020204020204" charset="-122"/>
                <a:ea typeface="微软雅黑" panose="020B0503020204020204" charset="-122"/>
                <a:cs typeface="微软雅黑" panose="020B0503020204020204" charset="-122"/>
              </a:defRPr>
            </a:pPr>
            <a:r>
              <a:rPr sz="1800" b="0">
                <a:solidFill>
                  <a:srgbClr val="172D3B"/>
                </a:solidFill>
                <a:latin typeface="微软雅黑" panose="020B0503020204020204" charset="-122"/>
                <a:ea typeface="微软雅黑" panose="020B0503020204020204" charset="-122"/>
                <a:cs typeface="微软雅黑" panose="020B0503020204020204" charset="-122"/>
              </a:rPr>
              <a:t>Vue 3 / Vite</a:t>
            </a:r>
            <a:endParaRPr sz="1800" b="0">
              <a:solidFill>
                <a:srgbClr val="172D3B"/>
              </a:solidFill>
              <a:latin typeface="微软雅黑" panose="020B0503020204020204" charset="-122"/>
              <a:ea typeface="微软雅黑" panose="020B0503020204020204" charset="-122"/>
              <a:cs typeface="微软雅黑" panose="020B0503020204020204" charset="-122"/>
            </a:endParaRPr>
          </a:p>
          <a:p>
            <a:pPr algn="l">
              <a:defRPr sz="1800" b="0">
                <a:solidFill>
                  <a:srgbClr val="172D3B"/>
                </a:solidFill>
                <a:latin typeface="微软雅黑" panose="020B0503020204020204" charset="-122"/>
                <a:ea typeface="微软雅黑" panose="020B0503020204020204" charset="-122"/>
                <a:cs typeface="微软雅黑" panose="020B0503020204020204" charset="-122"/>
              </a:defRPr>
            </a:pPr>
            <a:r>
              <a:rPr sz="1800" b="0">
                <a:solidFill>
                  <a:srgbClr val="172D3B"/>
                </a:solidFill>
                <a:latin typeface="微软雅黑" panose="020B0503020204020204" charset="-122"/>
                <a:ea typeface="微软雅黑" panose="020B0503020204020204" charset="-122"/>
                <a:cs typeface="微软雅黑" panose="020B0503020204020204" charset="-122"/>
              </a:rPr>
              <a:t>Element Plus</a:t>
            </a:r>
            <a:endParaRPr sz="1800" b="0">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15" name="text-73"/>
          <p:cNvSpPr>
            <a:spLocks noGrp="1"/>
          </p:cNvSpPr>
          <p:nvPr/>
        </p:nvSpPr>
        <p:spPr>
          <a:xfrm>
            <a:off x="4714875" y="2705100"/>
            <a:ext cx="2905125" cy="409575"/>
          </a:xfrm>
          <a:prstGeom prst="rect">
            <a:avLst/>
          </a:prstGeom>
          <a:noFill/>
          <a:ln w="0">
            <a:noFill/>
          </a:ln>
        </p:spPr>
        <p:txBody>
          <a:bodyPr>
            <a:noAutofit/>
          </a:bodyPr>
          <a:lstStyle/>
          <a:p>
            <a:pPr algn="l">
              <a:defRPr sz="2175" b="1">
                <a:solidFill>
                  <a:srgbClr val="172D3B"/>
                </a:solidFill>
                <a:latin typeface="微软雅黑" panose="020B0503020204020204" charset="-122"/>
                <a:ea typeface="微软雅黑" panose="020B0503020204020204" charset="-122"/>
                <a:cs typeface="微软雅黑" panose="020B0503020204020204" charset="-122"/>
              </a:defRPr>
            </a:pPr>
            <a:r>
              <a:rPr sz="2175" b="1">
                <a:solidFill>
                  <a:srgbClr val="172D3B"/>
                </a:solidFill>
                <a:latin typeface="微软雅黑" panose="020B0503020204020204" charset="-122"/>
                <a:ea typeface="微软雅黑" panose="020B0503020204020204" charset="-122"/>
                <a:cs typeface="微软雅黑" panose="020B0503020204020204" charset="-122"/>
              </a:rPr>
              <a:t>Spring Boot 3</a:t>
            </a:r>
            <a:endParaRPr sz="217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16" name="text-74"/>
          <p:cNvSpPr>
            <a:spLocks noGrp="1"/>
          </p:cNvSpPr>
          <p:nvPr/>
        </p:nvSpPr>
        <p:spPr>
          <a:xfrm>
            <a:off x="4714875" y="3209925"/>
            <a:ext cx="2905125" cy="1152525"/>
          </a:xfrm>
          <a:prstGeom prst="rect">
            <a:avLst/>
          </a:prstGeom>
          <a:noFill/>
          <a:ln w="0">
            <a:noFill/>
          </a:ln>
        </p:spPr>
        <p:txBody>
          <a:bodyPr>
            <a:noAutofit/>
          </a:bodyPr>
          <a:lstStyle/>
          <a:p>
            <a:pPr algn="l">
              <a:defRPr sz="1875" b="0">
                <a:solidFill>
                  <a:srgbClr val="172D3B"/>
                </a:solidFill>
                <a:latin typeface="微软雅黑" panose="020B0503020204020204" charset="-122"/>
                <a:ea typeface="微软雅黑" panose="020B0503020204020204" charset="-122"/>
                <a:cs typeface="微软雅黑" panose="020B0503020204020204" charset="-122"/>
              </a:defRPr>
            </a:pPr>
            <a:r>
              <a:rPr sz="1875" b="0">
                <a:solidFill>
                  <a:srgbClr val="172D3B"/>
                </a:solidFill>
                <a:latin typeface="微软雅黑" panose="020B0503020204020204" charset="-122"/>
                <a:ea typeface="微软雅黑" panose="020B0503020204020204" charset="-122"/>
                <a:cs typeface="微软雅黑" panose="020B0503020204020204" charset="-122"/>
              </a:rPr>
              <a:t>Java 17</a:t>
            </a:r>
            <a:endParaRPr sz="1875" b="0">
              <a:solidFill>
                <a:srgbClr val="172D3B"/>
              </a:solidFill>
              <a:latin typeface="微软雅黑" panose="020B0503020204020204" charset="-122"/>
              <a:ea typeface="微软雅黑" panose="020B0503020204020204" charset="-122"/>
              <a:cs typeface="微软雅黑" panose="020B0503020204020204" charset="-122"/>
            </a:endParaRPr>
          </a:p>
          <a:p>
            <a:pPr algn="l">
              <a:defRPr sz="1875" b="0">
                <a:solidFill>
                  <a:srgbClr val="172D3B"/>
                </a:solidFill>
                <a:latin typeface="微软雅黑" panose="020B0503020204020204" charset="-122"/>
                <a:ea typeface="微软雅黑" panose="020B0503020204020204" charset="-122"/>
                <a:cs typeface="微软雅黑" panose="020B0503020204020204" charset="-122"/>
              </a:defRPr>
            </a:pPr>
            <a:r>
              <a:rPr sz="1875" b="0">
                <a:solidFill>
                  <a:srgbClr val="172D3B"/>
                </a:solidFill>
                <a:latin typeface="微软雅黑" panose="020B0503020204020204" charset="-122"/>
                <a:ea typeface="微软雅黑" panose="020B0503020204020204" charset="-122"/>
                <a:cs typeface="微软雅黑" panose="020B0503020204020204" charset="-122"/>
              </a:rPr>
              <a:t>鉴权、日志、任务</a:t>
            </a:r>
            <a:endParaRPr sz="1875" b="0">
              <a:solidFill>
                <a:srgbClr val="172D3B"/>
              </a:solidFill>
              <a:latin typeface="微软雅黑" panose="020B0503020204020204" charset="-122"/>
              <a:ea typeface="微软雅黑" panose="020B0503020204020204" charset="-122"/>
              <a:cs typeface="微软雅黑" panose="020B0503020204020204" charset="-122"/>
            </a:endParaRPr>
          </a:p>
          <a:p>
            <a:pPr algn="l">
              <a:defRPr sz="1875" b="0">
                <a:solidFill>
                  <a:srgbClr val="172D3B"/>
                </a:solidFill>
                <a:latin typeface="微软雅黑" panose="020B0503020204020204" charset="-122"/>
                <a:ea typeface="微软雅黑" panose="020B0503020204020204" charset="-122"/>
                <a:cs typeface="微软雅黑" panose="020B0503020204020204" charset="-122"/>
              </a:defRPr>
            </a:pPr>
            <a:r>
              <a:rPr sz="1875" b="0">
                <a:solidFill>
                  <a:srgbClr val="172D3B"/>
                </a:solidFill>
                <a:latin typeface="微软雅黑" panose="020B0503020204020204" charset="-122"/>
                <a:ea typeface="微软雅黑" panose="020B0503020204020204" charset="-122"/>
                <a:cs typeface="微软雅黑" panose="020B0503020204020204" charset="-122"/>
              </a:rPr>
              <a:t>面板与视图聚合</a:t>
            </a:r>
            <a:endParaRPr sz="1875" b="0">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17" name="text-75"/>
          <p:cNvSpPr>
            <a:spLocks noGrp="1"/>
          </p:cNvSpPr>
          <p:nvPr/>
        </p:nvSpPr>
        <p:spPr>
          <a:xfrm>
            <a:off x="9134475" y="2943225"/>
            <a:ext cx="2286000" cy="400050"/>
          </a:xfrm>
          <a:prstGeom prst="rect">
            <a:avLst/>
          </a:prstGeom>
          <a:noFill/>
          <a:ln w="0">
            <a:noFill/>
          </a:ln>
        </p:spPr>
        <p:txBody>
          <a:bodyPr>
            <a:noAutofit/>
          </a:bodyPr>
          <a:lstStyle/>
          <a:p>
            <a:pPr algn="l">
              <a:defRPr sz="2175" b="1">
                <a:solidFill>
                  <a:srgbClr val="172D3B"/>
                </a:solidFill>
                <a:latin typeface="微软雅黑" panose="020B0503020204020204" charset="-122"/>
                <a:ea typeface="微软雅黑" panose="020B0503020204020204" charset="-122"/>
                <a:cs typeface="微软雅黑" panose="020B0503020204020204" charset="-122"/>
              </a:defRPr>
            </a:pPr>
            <a:r>
              <a:rPr sz="2175" b="1">
                <a:solidFill>
                  <a:srgbClr val="172D3B"/>
                </a:solidFill>
                <a:latin typeface="微软雅黑" panose="020B0503020204020204" charset="-122"/>
                <a:ea typeface="微软雅黑" panose="020B0503020204020204" charset="-122"/>
                <a:cs typeface="微软雅黑" panose="020B0503020204020204" charset="-122"/>
              </a:rPr>
              <a:t>MySQL 8</a:t>
            </a:r>
            <a:endParaRPr sz="217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18" name="text-76"/>
          <p:cNvSpPr>
            <a:spLocks noGrp="1"/>
          </p:cNvSpPr>
          <p:nvPr/>
        </p:nvSpPr>
        <p:spPr>
          <a:xfrm>
            <a:off x="9134475" y="3457575"/>
            <a:ext cx="2286000" cy="666750"/>
          </a:xfrm>
          <a:prstGeom prst="rect">
            <a:avLst/>
          </a:prstGeom>
          <a:noFill/>
          <a:ln w="0">
            <a:noFill/>
          </a:ln>
        </p:spPr>
        <p:txBody>
          <a:bodyPr>
            <a:noAutofit/>
          </a:bodyPr>
          <a:lstStyle/>
          <a:p>
            <a:pPr algn="l">
              <a:defRPr sz="1800" b="0">
                <a:solidFill>
                  <a:srgbClr val="172D3B"/>
                </a:solidFill>
                <a:latin typeface="微软雅黑" panose="020B0503020204020204" charset="-122"/>
                <a:ea typeface="微软雅黑" panose="020B0503020204020204" charset="-122"/>
                <a:cs typeface="微软雅黑" panose="020B0503020204020204" charset="-122"/>
              </a:defRPr>
            </a:pPr>
            <a:r>
              <a:rPr sz="1800" b="0">
                <a:solidFill>
                  <a:srgbClr val="172D3B"/>
                </a:solidFill>
                <a:latin typeface="微软雅黑" panose="020B0503020204020204" charset="-122"/>
                <a:ea typeface="微软雅黑" panose="020B0503020204020204" charset="-122"/>
                <a:cs typeface="微软雅黑" panose="020B0503020204020204" charset="-122"/>
              </a:rPr>
              <a:t>业务数据保存</a:t>
            </a:r>
            <a:endParaRPr sz="1800" b="0">
              <a:solidFill>
                <a:srgbClr val="172D3B"/>
              </a:solidFill>
              <a:latin typeface="微软雅黑" panose="020B0503020204020204" charset="-122"/>
              <a:ea typeface="微软雅黑" panose="020B0503020204020204" charset="-122"/>
              <a:cs typeface="微软雅黑" panose="020B0503020204020204" charset="-122"/>
            </a:endParaRPr>
          </a:p>
          <a:p>
            <a:pPr algn="l">
              <a:defRPr sz="1800" b="0">
                <a:solidFill>
                  <a:srgbClr val="172D3B"/>
                </a:solidFill>
                <a:latin typeface="微软雅黑" panose="020B0503020204020204" charset="-122"/>
                <a:ea typeface="微软雅黑" panose="020B0503020204020204" charset="-122"/>
                <a:cs typeface="微软雅黑" panose="020B0503020204020204" charset="-122"/>
              </a:defRPr>
            </a:pPr>
            <a:r>
              <a:rPr sz="1800" b="0">
                <a:solidFill>
                  <a:srgbClr val="172D3B"/>
                </a:solidFill>
                <a:latin typeface="微软雅黑" panose="020B0503020204020204" charset="-122"/>
                <a:ea typeface="微软雅黑" panose="020B0503020204020204" charset="-122"/>
                <a:cs typeface="微软雅黑" panose="020B0503020204020204" charset="-122"/>
              </a:rPr>
              <a:t>Flyway 结构迁移</a:t>
            </a:r>
            <a:endParaRPr sz="1800" b="0">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22" name="text-77"/>
          <p:cNvSpPr>
            <a:spLocks noGrp="1"/>
          </p:cNvSpPr>
          <p:nvPr/>
        </p:nvSpPr>
        <p:spPr>
          <a:xfrm>
            <a:off x="628650" y="5286375"/>
            <a:ext cx="10858500" cy="381000"/>
          </a:xfrm>
          <a:prstGeom prst="rect">
            <a:avLst/>
          </a:prstGeom>
          <a:noFill/>
          <a:ln w="0">
            <a:noFill/>
          </a:ln>
        </p:spPr>
        <p:txBody>
          <a:bodyPr>
            <a:noAutofit/>
          </a:bodyPr>
          <a:lstStyle/>
          <a:p>
            <a:pPr algn="l">
              <a:defRPr sz="1875" b="1">
                <a:solidFill>
                  <a:srgbClr val="087F82"/>
                </a:solidFill>
                <a:latin typeface="微软雅黑" panose="020B0503020204020204" charset="-122"/>
                <a:ea typeface="微软雅黑" panose="020B0503020204020204" charset="-122"/>
                <a:cs typeface="微软雅黑" panose="020B0503020204020204" charset="-122"/>
              </a:defRPr>
            </a:pPr>
            <a:r>
              <a:rPr sz="1875" b="1">
                <a:solidFill>
                  <a:srgbClr val="087F82"/>
                </a:solidFill>
                <a:latin typeface="微软雅黑" panose="020B0503020204020204" charset="-122"/>
                <a:ea typeface="微软雅黑" panose="020B0503020204020204" charset="-122"/>
                <a:cs typeface="微软雅黑" panose="020B0503020204020204" charset="-122"/>
              </a:rPr>
              <a:t>OpenAPI 定义接口契约，JWT 验证身份，BCrypt 保护密码存储。</a:t>
            </a:r>
            <a:endParaRPr sz="187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23" name="text-78"/>
          <p:cNvSpPr>
            <a:spLocks noGrp="1"/>
          </p:cNvSpPr>
          <p:nvPr/>
        </p:nvSpPr>
        <p:spPr>
          <a:xfrm>
            <a:off x="628650" y="5715000"/>
            <a:ext cx="10858500" cy="3429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采用单体架构以降低部署和跨服务联调成本，优先保证双端业务集成。</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24" name="text-79"/>
          <p:cNvSpPr>
            <a:spLocks noGrp="1"/>
          </p:cNvSpPr>
          <p:nvPr/>
        </p:nvSpPr>
        <p:spPr>
          <a:xfrm>
            <a:off x="628650" y="6067425"/>
            <a:ext cx="10858500" cy="333375"/>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Flyway 管理表结构变更；首轮完成本地联调，后续配置持续集成与部署。</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8" name="text-80"/>
          <p:cNvSpPr>
            <a:spLocks noGrp="1"/>
          </p:cNvSpPr>
          <p:nvPr/>
        </p:nvSpPr>
        <p:spPr>
          <a:xfrm>
            <a:off x="609600" y="381000"/>
            <a:ext cx="10972800" cy="609600"/>
          </a:xfrm>
          <a:prstGeom prst="rect">
            <a:avLst/>
          </a:prstGeom>
          <a:noFill/>
          <a:ln w="0">
            <a:noFill/>
          </a:ln>
        </p:spPr>
        <p:txBody>
          <a:bodyPr>
            <a:noAutofit/>
          </a:bodyPr>
          <a:lstStyle/>
          <a:p>
            <a:pPr algn="l">
              <a:defRPr sz="3225" b="1">
                <a:solidFill>
                  <a:srgbClr val="172D3B"/>
                </a:solidFill>
                <a:latin typeface="微软雅黑" panose="020B0503020204020204" charset="-122"/>
                <a:ea typeface="微软雅黑" panose="020B0503020204020204" charset="-122"/>
                <a:cs typeface="微软雅黑" panose="020B0503020204020204" charset="-122"/>
              </a:defRPr>
            </a:pPr>
            <a:r>
              <a:rPr sz="3225" b="1">
                <a:solidFill>
                  <a:srgbClr val="172D3B"/>
                </a:solidFill>
                <a:latin typeface="微软雅黑" panose="020B0503020204020204" charset="-122"/>
                <a:ea typeface="微软雅黑" panose="020B0503020204020204" charset="-122"/>
                <a:cs typeface="微软雅黑" panose="020B0503020204020204" charset="-122"/>
              </a:rPr>
              <a:t>数据模型与权限规则</a:t>
            </a:r>
            <a:endParaRPr sz="322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2" name="text-81"/>
          <p:cNvSpPr>
            <a:spLocks noGrp="1"/>
          </p:cNvSpPr>
          <p:nvPr/>
        </p:nvSpPr>
        <p:spPr>
          <a:xfrm>
            <a:off x="628650" y="1057275"/>
            <a:ext cx="10934700" cy="4572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基于角色定义操作权限，依据组织关系限定数据访问范围</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3" name="text-82"/>
          <p:cNvSpPr>
            <a:spLocks noGrp="1"/>
          </p:cNvSpPr>
          <p:nvPr/>
        </p:nvSpPr>
        <p:spPr>
          <a:xfrm>
            <a:off x="10953750" y="6419850"/>
            <a:ext cx="590550" cy="238125"/>
          </a:xfrm>
          <a:prstGeom prst="rect">
            <a:avLst/>
          </a:prstGeom>
          <a:noFill/>
          <a:ln w="0">
            <a:noFill/>
          </a:ln>
        </p:spPr>
        <p:txBody>
          <a:bodyPr>
            <a:noAutofit/>
          </a:bodyPr>
          <a:lstStyle/>
          <a:p>
            <a:pPr algn="r">
              <a:defRPr sz="1275" b="0">
                <a:solidFill>
                  <a:srgbClr val="576873"/>
                </a:solidFill>
                <a:latin typeface="微软雅黑" panose="020B0503020204020204" charset="-122"/>
                <a:ea typeface="微软雅黑" panose="020B0503020204020204" charset="-122"/>
                <a:cs typeface="微软雅黑" panose="020B0503020204020204" charset="-122"/>
              </a:defRPr>
            </a:pPr>
            <a:r>
              <a:rPr sz="1275" b="0">
                <a:solidFill>
                  <a:srgbClr val="576873"/>
                </a:solidFill>
                <a:latin typeface="微软雅黑" panose="020B0503020204020204" charset="-122"/>
                <a:ea typeface="微软雅黑" panose="020B0503020204020204" charset="-122"/>
                <a:cs typeface="微软雅黑" panose="020B0503020204020204" charset="-122"/>
              </a:rPr>
              <a:t>07</a:t>
            </a:r>
            <a:endParaRPr sz="1275" b="0">
              <a:solidFill>
                <a:srgbClr val="576873"/>
              </a:solidFill>
              <a:latin typeface="微软雅黑" panose="020B0503020204020204" charset="-122"/>
              <a:ea typeface="微软雅黑" panose="020B0503020204020204" charset="-122"/>
              <a:cs typeface="微软雅黑" panose="020B0503020204020204" charset="-122"/>
            </a:endParaRPr>
          </a:p>
        </p:txBody>
      </p:sp>
      <p:graphicFrame>
        <p:nvGraphicFramePr>
          <p:cNvPr id="11" name="表格 10"/>
          <p:cNvGraphicFramePr/>
          <p:nvPr/>
        </p:nvGraphicFramePr>
        <p:xfrm>
          <a:off x="609600" y="1790700"/>
          <a:ext cx="10972800" cy="2809876"/>
        </p:xfrm>
        <a:graphic>
          <a:graphicData uri="http://schemas.openxmlformats.org/drawingml/2006/table">
            <a:tbl>
              <a:tblPr/>
              <a:tblGrid>
                <a:gridCol w="2190750"/>
                <a:gridCol w="4543425"/>
                <a:gridCol w="4238625"/>
              </a:tblGrid>
              <a:tr h="702469">
                <a:tc>
                  <a:txBody>
                    <a:bodyPr>
                      <a:spAutoFit/>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对象</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c>
                  <a:txBody>
                    <a:bodyPr>
                      <a:spAutoFit/>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关键字段或关系</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c>
                  <a:txBody>
                    <a:bodyPr>
                      <a:spAutoFit/>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设计规则</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r>
              <a:tr h="702469">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用户 users</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id、role、manager_id</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MVP 支持直属上下级关系</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702469">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日志 work_logs</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user_id、log_date、content</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作者编辑，上级授权只读</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r>
              <a:tr h="702469">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任务 tasks</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creator_id、assignee_id、status</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Sprint 2 实现派发与进度闭环</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5" name="text-83"/>
          <p:cNvSpPr>
            <a:spLocks noGrp="1"/>
          </p:cNvSpPr>
          <p:nvPr/>
        </p:nvSpPr>
        <p:spPr>
          <a:xfrm>
            <a:off x="628650" y="5000625"/>
            <a:ext cx="10763250" cy="409575"/>
          </a:xfrm>
          <a:prstGeom prst="rect">
            <a:avLst/>
          </a:prstGeom>
          <a:noFill/>
          <a:ln w="0">
            <a:noFill/>
          </a:ln>
        </p:spPr>
        <p:txBody>
          <a:bodyPr>
            <a:noAutofit/>
          </a:bodyPr>
          <a:lstStyle/>
          <a:p>
            <a:pPr algn="l">
              <a:defRPr sz="2025" b="1">
                <a:solidFill>
                  <a:srgbClr val="087F82"/>
                </a:solidFill>
                <a:latin typeface="微软雅黑" panose="020B0503020204020204" charset="-122"/>
                <a:ea typeface="微软雅黑" panose="020B0503020204020204" charset="-122"/>
                <a:cs typeface="微软雅黑" panose="020B0503020204020204" charset="-122"/>
              </a:defRPr>
            </a:pPr>
            <a:r>
              <a:rPr sz="2025" b="1">
                <a:solidFill>
                  <a:srgbClr val="087F82"/>
                </a:solidFill>
                <a:latin typeface="微软雅黑" panose="020B0503020204020204" charset="-122"/>
                <a:ea typeface="微软雅黑" panose="020B0503020204020204" charset="-122"/>
                <a:cs typeface="微软雅黑" panose="020B0503020204020204" charset="-122"/>
              </a:rPr>
              <a:t>日志规则：保存后对授权上级可见，作者保留修改权限。</a:t>
            </a:r>
            <a:endParaRPr sz="202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6" name="text-84"/>
          <p:cNvSpPr>
            <a:spLocks noGrp="1"/>
          </p:cNvSpPr>
          <p:nvPr/>
        </p:nvSpPr>
        <p:spPr>
          <a:xfrm>
            <a:off x="628650" y="5514975"/>
            <a:ext cx="10763250" cy="361950"/>
          </a:xfrm>
          <a:prstGeom prst="rect">
            <a:avLst/>
          </a:prstGeom>
          <a:noFill/>
          <a:ln w="0">
            <a:noFill/>
          </a:ln>
        </p:spPr>
        <p:txBody>
          <a:bodyPr>
            <a:noAutofit/>
          </a:bodyPr>
          <a:lstStyle/>
          <a:p>
            <a:pPr algn="l">
              <a:defRPr sz="1800" b="0">
                <a:solidFill>
                  <a:srgbClr val="576873"/>
                </a:solidFill>
                <a:latin typeface="微软雅黑" panose="020B0503020204020204" charset="-122"/>
                <a:ea typeface="微软雅黑" panose="020B0503020204020204" charset="-122"/>
                <a:cs typeface="微软雅黑" panose="020B0503020204020204" charset="-122"/>
              </a:defRPr>
            </a:pPr>
            <a:r>
              <a:rPr sz="1800" b="0">
                <a:solidFill>
                  <a:srgbClr val="576873"/>
                </a:solidFill>
                <a:latin typeface="微软雅黑" panose="020B0503020204020204" charset="-122"/>
                <a:ea typeface="微软雅黑" panose="020B0503020204020204" charset="-122"/>
                <a:cs typeface="微软雅黑" panose="020B0503020204020204" charset="-122"/>
              </a:rPr>
              <a:t>首轮支持直属上下级；上级只读查询，跨团队人员不得访问。</a:t>
            </a:r>
            <a:endParaRPr sz="1800"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7" name="text-85"/>
          <p:cNvSpPr>
            <a:spLocks noGrp="1"/>
          </p:cNvSpPr>
          <p:nvPr/>
        </p:nvSpPr>
        <p:spPr>
          <a:xfrm>
            <a:off x="628650" y="5905500"/>
            <a:ext cx="10763250" cy="3810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后端依据用户身份与 manager_id 校验范围，避免仅依靠页面隐藏控制权限。</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7" name="text-86"/>
          <p:cNvSpPr>
            <a:spLocks noGrp="1"/>
          </p:cNvSpPr>
          <p:nvPr/>
        </p:nvSpPr>
        <p:spPr>
          <a:xfrm>
            <a:off x="609600" y="381000"/>
            <a:ext cx="10972800" cy="609600"/>
          </a:xfrm>
          <a:prstGeom prst="rect">
            <a:avLst/>
          </a:prstGeom>
          <a:noFill/>
          <a:ln w="0">
            <a:noFill/>
          </a:ln>
        </p:spPr>
        <p:txBody>
          <a:bodyPr>
            <a:noAutofit/>
          </a:bodyPr>
          <a:lstStyle/>
          <a:p>
            <a:pPr algn="l">
              <a:defRPr sz="3225" b="1">
                <a:solidFill>
                  <a:srgbClr val="172D3B"/>
                </a:solidFill>
                <a:latin typeface="微软雅黑" panose="020B0503020204020204" charset="-122"/>
                <a:ea typeface="微软雅黑" panose="020B0503020204020204" charset="-122"/>
                <a:cs typeface="微软雅黑" panose="020B0503020204020204" charset="-122"/>
              </a:defRPr>
            </a:pPr>
            <a:r>
              <a:rPr sz="3225" b="1">
                <a:solidFill>
                  <a:srgbClr val="172D3B"/>
                </a:solidFill>
                <a:latin typeface="微软雅黑" panose="020B0503020204020204" charset="-122"/>
                <a:ea typeface="微软雅黑" panose="020B0503020204020204" charset="-122"/>
                <a:cs typeface="微软雅黑" panose="020B0503020204020204" charset="-122"/>
              </a:rPr>
              <a:t>验收与测试计划</a:t>
            </a:r>
            <a:endParaRPr sz="322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2" name="text-87"/>
          <p:cNvSpPr>
            <a:spLocks noGrp="1"/>
          </p:cNvSpPr>
          <p:nvPr/>
        </p:nvSpPr>
        <p:spPr>
          <a:xfrm>
            <a:off x="628650" y="1057275"/>
            <a:ext cx="10934700" cy="4572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安全性与可靠性作为两项非功能验收要求</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3" name="text-88"/>
          <p:cNvSpPr>
            <a:spLocks noGrp="1"/>
          </p:cNvSpPr>
          <p:nvPr/>
        </p:nvSpPr>
        <p:spPr>
          <a:xfrm>
            <a:off x="10953750" y="6419850"/>
            <a:ext cx="590550" cy="238125"/>
          </a:xfrm>
          <a:prstGeom prst="rect">
            <a:avLst/>
          </a:prstGeom>
          <a:noFill/>
          <a:ln w="0">
            <a:noFill/>
          </a:ln>
        </p:spPr>
        <p:txBody>
          <a:bodyPr>
            <a:noAutofit/>
          </a:bodyPr>
          <a:lstStyle/>
          <a:p>
            <a:pPr algn="r">
              <a:defRPr sz="1275" b="0">
                <a:solidFill>
                  <a:srgbClr val="576873"/>
                </a:solidFill>
                <a:latin typeface="微软雅黑" panose="020B0503020204020204" charset="-122"/>
                <a:ea typeface="微软雅黑" panose="020B0503020204020204" charset="-122"/>
                <a:cs typeface="微软雅黑" panose="020B0503020204020204" charset="-122"/>
              </a:defRPr>
            </a:pPr>
            <a:r>
              <a:rPr sz="1275" b="0">
                <a:solidFill>
                  <a:srgbClr val="576873"/>
                </a:solidFill>
                <a:latin typeface="微软雅黑" panose="020B0503020204020204" charset="-122"/>
                <a:ea typeface="微软雅黑" panose="020B0503020204020204" charset="-122"/>
                <a:cs typeface="微软雅黑" panose="020B0503020204020204" charset="-122"/>
              </a:rPr>
              <a:t>08</a:t>
            </a:r>
            <a:endParaRPr sz="1275" b="0">
              <a:solidFill>
                <a:srgbClr val="576873"/>
              </a:solidFill>
              <a:latin typeface="微软雅黑" panose="020B0503020204020204" charset="-122"/>
              <a:ea typeface="微软雅黑" panose="020B0503020204020204" charset="-122"/>
              <a:cs typeface="微软雅黑" panose="020B0503020204020204" charset="-122"/>
            </a:endParaRPr>
          </a:p>
        </p:txBody>
      </p:sp>
      <p:graphicFrame>
        <p:nvGraphicFramePr>
          <p:cNvPr id="10" name="表格 9"/>
          <p:cNvGraphicFramePr/>
          <p:nvPr/>
        </p:nvGraphicFramePr>
        <p:xfrm>
          <a:off x="609600" y="1790700"/>
          <a:ext cx="10972800" cy="3257552"/>
        </p:xfrm>
        <a:graphic>
          <a:graphicData uri="http://schemas.openxmlformats.org/drawingml/2006/table">
            <a:tbl>
              <a:tblPr/>
              <a:tblGrid>
                <a:gridCol w="1809750"/>
                <a:gridCol w="6191250"/>
                <a:gridCol w="2971800"/>
              </a:tblGrid>
              <a:tr h="814388">
                <a:tc>
                  <a:txBody>
                    <a:bodyPr>
                      <a:spAutoFit/>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验证项</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c>
                  <a:txBody>
                    <a:bodyPr>
                      <a:spAutoFit/>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验收目标</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c>
                  <a:txBody>
                    <a:bodyPr>
                      <a:spAutoFit/>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验证证据</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r>
              <a:tr h="814388">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功能闭环</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日志录入、重新登录查询、上级 Web 查询</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演示步骤和实际结果</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814388">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安全性</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未登录 401，越权 403</a:t>
                      </a:r>
                      <a:endParaRPr sz="1800" b="0">
                        <a:solidFill>
                          <a:srgbClr val="172D3B"/>
                        </a:solidFill>
                        <a:latin typeface="微软雅黑" panose="020B0503020204020204" charset="-122"/>
                        <a:ea typeface="微软雅黑" panose="020B0503020204020204" charset="-122"/>
                        <a:cs typeface="微软雅黑" panose="020B0503020204020204" charset="-122"/>
                      </a:endParaRPr>
                    </a:p>
                    <a:p>
                      <a:r>
                        <a:rPr sz="1800" b="0">
                          <a:solidFill>
                            <a:srgbClr val="172D3B"/>
                          </a:solidFill>
                          <a:latin typeface="微软雅黑" panose="020B0503020204020204" charset="-122"/>
                          <a:ea typeface="微软雅黑" panose="020B0503020204020204" charset="-122"/>
                          <a:cs typeface="微软雅黑" panose="020B0503020204020204" charset="-122"/>
                        </a:rPr>
                        <a:t>接口校验用户和组织范围</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权限用例与响应记录</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r>
              <a:tr h="814388">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可靠性</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已保存数据在重启后仍可查询</a:t>
                      </a:r>
                      <a:endParaRPr sz="1800" b="0">
                        <a:solidFill>
                          <a:srgbClr val="172D3B"/>
                        </a:solidFill>
                        <a:latin typeface="微软雅黑" panose="020B0503020204020204" charset="-122"/>
                        <a:ea typeface="微软雅黑" panose="020B0503020204020204" charset="-122"/>
                        <a:cs typeface="微软雅黑" panose="020B0503020204020204" charset="-122"/>
                      </a:endParaRPr>
                    </a:p>
                    <a:p>
                      <a:r>
                        <a:rPr sz="1800" b="0">
                          <a:solidFill>
                            <a:srgbClr val="172D3B"/>
                          </a:solidFill>
                          <a:latin typeface="微软雅黑" panose="020B0503020204020204" charset="-122"/>
                          <a:ea typeface="微软雅黑" panose="020B0503020204020204" charset="-122"/>
                          <a:cs typeface="微软雅黑" panose="020B0503020204020204" charset="-122"/>
                        </a:rPr>
                        <a:t>保存失败明确提示并保留输入</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重启验证和失败场景记录</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5" name="text-89"/>
          <p:cNvSpPr>
            <a:spLocks noGrp="1"/>
          </p:cNvSpPr>
          <p:nvPr/>
        </p:nvSpPr>
        <p:spPr>
          <a:xfrm>
            <a:off x="628650" y="5391150"/>
            <a:ext cx="10763250" cy="400050"/>
          </a:xfrm>
          <a:prstGeom prst="rect">
            <a:avLst/>
          </a:prstGeom>
          <a:noFill/>
          <a:ln w="0">
            <a:noFill/>
          </a:ln>
        </p:spPr>
        <p:txBody>
          <a:bodyPr>
            <a:noAutofit/>
          </a:bodyPr>
          <a:lstStyle/>
          <a:p>
            <a:pPr algn="l">
              <a:defRPr sz="1800" b="0">
                <a:solidFill>
                  <a:srgbClr val="576873"/>
                </a:solidFill>
                <a:latin typeface="微软雅黑" panose="020B0503020204020204" charset="-122"/>
                <a:ea typeface="微软雅黑" panose="020B0503020204020204" charset="-122"/>
                <a:cs typeface="微软雅黑" panose="020B0503020204020204" charset="-122"/>
              </a:defRPr>
            </a:pPr>
            <a:r>
              <a:rPr sz="1800" b="0">
                <a:solidFill>
                  <a:srgbClr val="576873"/>
                </a:solidFill>
                <a:latin typeface="微软雅黑" panose="020B0503020204020204" charset="-122"/>
                <a:ea typeface="微软雅黑" panose="020B0503020204020204" charset="-122"/>
                <a:cs typeface="微软雅黑" panose="020B0503020204020204" charset="-122"/>
              </a:rPr>
              <a:t>Sprint 1 开始编写业务单元测试，并执行日志录入与双端查询的集成验收。</a:t>
            </a:r>
            <a:endParaRPr sz="1800"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6" name="text-90"/>
          <p:cNvSpPr>
            <a:spLocks noGrp="1"/>
          </p:cNvSpPr>
          <p:nvPr/>
        </p:nvSpPr>
        <p:spPr>
          <a:xfrm>
            <a:off x="628650" y="5857875"/>
            <a:ext cx="10763250" cy="409575"/>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每条用例记录输入、预期与实际结果；缺陷关联 Issue、修复提交和 OpenSpec。</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11" name="text-91"/>
          <p:cNvSpPr>
            <a:spLocks noGrp="1"/>
          </p:cNvSpPr>
          <p:nvPr/>
        </p:nvSpPr>
        <p:spPr>
          <a:xfrm>
            <a:off x="609600" y="381000"/>
            <a:ext cx="10972800" cy="609600"/>
          </a:xfrm>
          <a:prstGeom prst="rect">
            <a:avLst/>
          </a:prstGeom>
          <a:noFill/>
          <a:ln w="0">
            <a:noFill/>
          </a:ln>
        </p:spPr>
        <p:txBody>
          <a:bodyPr>
            <a:noAutofit/>
          </a:bodyPr>
          <a:lstStyle/>
          <a:p>
            <a:pPr algn="l">
              <a:defRPr sz="3225" b="1">
                <a:solidFill>
                  <a:srgbClr val="172D3B"/>
                </a:solidFill>
                <a:latin typeface="微软雅黑" panose="020B0503020204020204" charset="-122"/>
                <a:ea typeface="微软雅黑" panose="020B0503020204020204" charset="-122"/>
                <a:cs typeface="微软雅黑" panose="020B0503020204020204" charset="-122"/>
              </a:defRPr>
            </a:pPr>
            <a:r>
              <a:rPr sz="3225" b="1">
                <a:solidFill>
                  <a:srgbClr val="172D3B"/>
                </a:solidFill>
                <a:latin typeface="微软雅黑" panose="020B0503020204020204" charset="-122"/>
                <a:ea typeface="微软雅黑" panose="020B0503020204020204" charset="-122"/>
                <a:cs typeface="微软雅黑" panose="020B0503020204020204" charset="-122"/>
              </a:rPr>
              <a:t>Sprint 0 当前进展</a:t>
            </a:r>
            <a:endParaRPr sz="322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2" name="text-92"/>
          <p:cNvSpPr>
            <a:spLocks noGrp="1"/>
          </p:cNvSpPr>
          <p:nvPr/>
        </p:nvSpPr>
        <p:spPr>
          <a:xfrm>
            <a:off x="628650" y="1057275"/>
            <a:ext cx="10934700" cy="4572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已形成需求与过程材料，待完善任务关联及规格一致性</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3" name="text-93"/>
          <p:cNvSpPr>
            <a:spLocks noGrp="1"/>
          </p:cNvSpPr>
          <p:nvPr/>
        </p:nvSpPr>
        <p:spPr>
          <a:xfrm>
            <a:off x="10953750" y="6419850"/>
            <a:ext cx="590550" cy="238125"/>
          </a:xfrm>
          <a:prstGeom prst="rect">
            <a:avLst/>
          </a:prstGeom>
          <a:noFill/>
          <a:ln w="0">
            <a:noFill/>
          </a:ln>
        </p:spPr>
        <p:txBody>
          <a:bodyPr>
            <a:noAutofit/>
          </a:bodyPr>
          <a:lstStyle/>
          <a:p>
            <a:pPr algn="r">
              <a:defRPr sz="1275" b="0">
                <a:solidFill>
                  <a:srgbClr val="576873"/>
                </a:solidFill>
                <a:latin typeface="微软雅黑" panose="020B0503020204020204" charset="-122"/>
                <a:ea typeface="微软雅黑" panose="020B0503020204020204" charset="-122"/>
                <a:cs typeface="微软雅黑" panose="020B0503020204020204" charset="-122"/>
              </a:defRPr>
            </a:pPr>
            <a:r>
              <a:rPr sz="1275" b="0">
                <a:solidFill>
                  <a:srgbClr val="576873"/>
                </a:solidFill>
                <a:latin typeface="微软雅黑" panose="020B0503020204020204" charset="-122"/>
                <a:ea typeface="微软雅黑" panose="020B0503020204020204" charset="-122"/>
                <a:cs typeface="微软雅黑" panose="020B0503020204020204" charset="-122"/>
              </a:rPr>
              <a:t>09</a:t>
            </a:r>
            <a:endParaRPr sz="127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4" name="text-94"/>
          <p:cNvSpPr>
            <a:spLocks noGrp="1"/>
          </p:cNvSpPr>
          <p:nvPr/>
        </p:nvSpPr>
        <p:spPr>
          <a:xfrm>
            <a:off x="628650" y="1847850"/>
            <a:ext cx="4933950" cy="447675"/>
          </a:xfrm>
          <a:prstGeom prst="rect">
            <a:avLst/>
          </a:prstGeom>
          <a:noFill/>
          <a:ln w="0">
            <a:noFill/>
          </a:ln>
        </p:spPr>
        <p:txBody>
          <a:bodyPr>
            <a:noAutofit/>
          </a:bodyPr>
          <a:lstStyle/>
          <a:p>
            <a:pPr algn="l">
              <a:defRPr sz="2475" b="1">
                <a:solidFill>
                  <a:srgbClr val="087F82"/>
                </a:solidFill>
                <a:latin typeface="微软雅黑" panose="020B0503020204020204" charset="-122"/>
                <a:ea typeface="微软雅黑" panose="020B0503020204020204" charset="-122"/>
                <a:cs typeface="微软雅黑" panose="020B0503020204020204" charset="-122"/>
              </a:defRPr>
            </a:pPr>
            <a:r>
              <a:rPr sz="2475" b="1">
                <a:solidFill>
                  <a:srgbClr val="087F82"/>
                </a:solidFill>
                <a:latin typeface="微软雅黑" panose="020B0503020204020204" charset="-122"/>
                <a:ea typeface="微软雅黑" panose="020B0503020204020204" charset="-122"/>
                <a:cs typeface="微软雅黑" panose="020B0503020204020204" charset="-122"/>
              </a:rPr>
              <a:t>已形成的阶段材料</a:t>
            </a:r>
            <a:endParaRPr sz="247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5" name="text-95"/>
          <p:cNvSpPr>
            <a:spLocks noGrp="1"/>
          </p:cNvSpPr>
          <p:nvPr/>
        </p:nvSpPr>
        <p:spPr>
          <a:xfrm>
            <a:off x="628650" y="2543175"/>
            <a:ext cx="4933950" cy="2533650"/>
          </a:xfrm>
          <a:prstGeom prst="rect">
            <a:avLst/>
          </a:prstGeom>
          <a:noFill/>
          <a:ln w="0">
            <a:noFill/>
          </a:ln>
        </p:spPr>
        <p:txBody>
          <a:bodyPr>
            <a:noAutofit/>
          </a:bodyPr>
          <a:lstStyle/>
          <a:p>
            <a:pPr algn="l">
              <a:defRPr sz="2100" b="0">
                <a:solidFill>
                  <a:srgbClr val="172D3B"/>
                </a:solidFill>
                <a:latin typeface="微软雅黑" panose="020B0503020204020204" charset="-122"/>
                <a:ea typeface="微软雅黑" panose="020B0503020204020204" charset="-122"/>
                <a:cs typeface="微软雅黑" panose="020B0503020204020204" charset="-122"/>
              </a:defRPr>
            </a:pPr>
            <a:r>
              <a:rPr sz="2100" b="0">
                <a:solidFill>
                  <a:srgbClr val="172D3B"/>
                </a:solidFill>
                <a:latin typeface="微软雅黑" panose="020B0503020204020204" charset="-122"/>
                <a:ea typeface="微软雅黑" panose="020B0503020204020204" charset="-122"/>
                <a:cs typeface="微软雅黑" panose="020B0503020204020204" charset="-122"/>
              </a:rPr>
              <a:t>需求初版与 25 条用户故事</a:t>
            </a:r>
            <a:endParaRPr sz="2100" b="0">
              <a:solidFill>
                <a:srgbClr val="172D3B"/>
              </a:solidFill>
              <a:latin typeface="微软雅黑" panose="020B0503020204020204" charset="-122"/>
              <a:ea typeface="微软雅黑" panose="020B0503020204020204" charset="-122"/>
              <a:cs typeface="微软雅黑" panose="020B0503020204020204" charset="-122"/>
            </a:endParaRPr>
          </a:p>
          <a:p>
            <a:pPr algn="l">
              <a:defRPr sz="2100" b="0">
                <a:solidFill>
                  <a:srgbClr val="172D3B"/>
                </a:solidFill>
                <a:latin typeface="微软雅黑" panose="020B0503020204020204" charset="-122"/>
                <a:ea typeface="微软雅黑" panose="020B0503020204020204" charset="-122"/>
                <a:cs typeface="微软雅黑" panose="020B0503020204020204" charset="-122"/>
              </a:defRPr>
            </a:pPr>
            <a:r>
              <a:rPr sz="2100" b="0">
                <a:solidFill>
                  <a:srgbClr val="172D3B"/>
                </a:solidFill>
                <a:latin typeface="微软雅黑" panose="020B0503020204020204" charset="-122"/>
                <a:ea typeface="微软雅黑" panose="020B0503020204020204" charset="-122"/>
                <a:cs typeface="微软雅黑" panose="020B0503020204020204" charset="-122"/>
              </a:rPr>
              <a:t>架构、数据库和接口草案</a:t>
            </a:r>
            <a:endParaRPr sz="2100" b="0">
              <a:solidFill>
                <a:srgbClr val="172D3B"/>
              </a:solidFill>
              <a:latin typeface="微软雅黑" panose="020B0503020204020204" charset="-122"/>
              <a:ea typeface="微软雅黑" panose="020B0503020204020204" charset="-122"/>
              <a:cs typeface="微软雅黑" panose="020B0503020204020204" charset="-122"/>
            </a:endParaRPr>
          </a:p>
          <a:p>
            <a:pPr algn="l">
              <a:defRPr sz="2100" b="0">
                <a:solidFill>
                  <a:srgbClr val="172D3B"/>
                </a:solidFill>
                <a:latin typeface="微软雅黑" panose="020B0503020204020204" charset="-122"/>
                <a:ea typeface="微软雅黑" panose="020B0503020204020204" charset="-122"/>
                <a:cs typeface="微软雅黑" panose="020B0503020204020204" charset="-122"/>
              </a:defRPr>
            </a:pPr>
            <a:r>
              <a:rPr sz="2100" b="0">
                <a:solidFill>
                  <a:srgbClr val="172D3B"/>
                </a:solidFill>
                <a:latin typeface="微软雅黑" panose="020B0503020204020204" charset="-122"/>
                <a:ea typeface="微软雅黑" panose="020B0503020204020204" charset="-122"/>
                <a:cs typeface="微软雅黑" panose="020B0503020204020204" charset="-122"/>
              </a:rPr>
              <a:t>OpenSpec 与文字线框</a:t>
            </a:r>
            <a:endParaRPr sz="2100" b="0">
              <a:solidFill>
                <a:srgbClr val="172D3B"/>
              </a:solidFill>
              <a:latin typeface="微软雅黑" panose="020B0503020204020204" charset="-122"/>
              <a:ea typeface="微软雅黑" panose="020B0503020204020204" charset="-122"/>
              <a:cs typeface="微软雅黑" panose="020B0503020204020204" charset="-122"/>
            </a:endParaRPr>
          </a:p>
          <a:p>
            <a:pPr algn="l">
              <a:defRPr sz="2100" b="0">
                <a:solidFill>
                  <a:srgbClr val="172D3B"/>
                </a:solidFill>
                <a:latin typeface="微软雅黑" panose="020B0503020204020204" charset="-122"/>
                <a:ea typeface="微软雅黑" panose="020B0503020204020204" charset="-122"/>
                <a:cs typeface="微软雅黑" panose="020B0503020204020204" charset="-122"/>
              </a:defRPr>
            </a:pPr>
            <a:r>
              <a:rPr sz="2100" b="0">
                <a:solidFill>
                  <a:srgbClr val="172D3B"/>
                </a:solidFill>
                <a:latin typeface="微软雅黑" panose="020B0503020204020204" charset="-122"/>
                <a:ea typeface="微软雅黑" panose="020B0503020204020204" charset="-122"/>
                <a:cs typeface="微软雅黑" panose="020B0503020204020204" charset="-122"/>
              </a:rPr>
              <a:t>PR 审阅、周报、会议纪要</a:t>
            </a:r>
            <a:endParaRPr sz="2100" b="0">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6" name="text-96"/>
          <p:cNvSpPr>
            <a:spLocks noGrp="1"/>
          </p:cNvSpPr>
          <p:nvPr/>
        </p:nvSpPr>
        <p:spPr>
          <a:xfrm>
            <a:off x="6515100" y="1847850"/>
            <a:ext cx="5048250" cy="447675"/>
          </a:xfrm>
          <a:prstGeom prst="rect">
            <a:avLst/>
          </a:prstGeom>
          <a:noFill/>
          <a:ln w="0">
            <a:noFill/>
          </a:ln>
        </p:spPr>
        <p:txBody>
          <a:bodyPr>
            <a:noAutofit/>
          </a:bodyPr>
          <a:lstStyle/>
          <a:p>
            <a:pPr algn="l">
              <a:defRPr sz="2475" b="1">
                <a:solidFill>
                  <a:srgbClr val="A36520"/>
                </a:solidFill>
                <a:latin typeface="微软雅黑" panose="020B0503020204020204" charset="-122"/>
                <a:ea typeface="微软雅黑" panose="020B0503020204020204" charset="-122"/>
                <a:cs typeface="微软雅黑" panose="020B0503020204020204" charset="-122"/>
              </a:defRPr>
            </a:pPr>
            <a:r>
              <a:rPr sz="2475" b="1">
                <a:solidFill>
                  <a:srgbClr val="A36520"/>
                </a:solidFill>
                <a:latin typeface="微软雅黑" panose="020B0503020204020204" charset="-122"/>
                <a:ea typeface="微软雅黑" panose="020B0503020204020204" charset="-122"/>
                <a:cs typeface="微软雅黑" panose="020B0503020204020204" charset="-122"/>
              </a:rPr>
              <a:t>本阶段待完善事项</a:t>
            </a:r>
            <a:endParaRPr sz="2475" b="1">
              <a:solidFill>
                <a:srgbClr val="A36520"/>
              </a:solidFill>
              <a:latin typeface="微软雅黑" panose="020B0503020204020204" charset="-122"/>
              <a:ea typeface="微软雅黑" panose="020B0503020204020204" charset="-122"/>
              <a:cs typeface="微软雅黑" panose="020B0503020204020204" charset="-122"/>
            </a:endParaRPr>
          </a:p>
        </p:txBody>
      </p:sp>
      <p:sp>
        <p:nvSpPr>
          <p:cNvPr id="7" name="text-97"/>
          <p:cNvSpPr>
            <a:spLocks noGrp="1"/>
          </p:cNvSpPr>
          <p:nvPr/>
        </p:nvSpPr>
        <p:spPr>
          <a:xfrm>
            <a:off x="6515100" y="2543175"/>
            <a:ext cx="5048250" cy="2533650"/>
          </a:xfrm>
          <a:prstGeom prst="rect">
            <a:avLst/>
          </a:prstGeom>
          <a:noFill/>
          <a:ln w="0">
            <a:noFill/>
          </a:ln>
        </p:spPr>
        <p:txBody>
          <a:bodyPr>
            <a:noAutofit/>
          </a:bodyPr>
          <a:lstStyle/>
          <a:p>
            <a:pPr algn="l">
              <a:defRPr sz="2100" b="0">
                <a:solidFill>
                  <a:srgbClr val="172D3B"/>
                </a:solidFill>
                <a:latin typeface="微软雅黑" panose="020B0503020204020204" charset="-122"/>
                <a:ea typeface="微软雅黑" panose="020B0503020204020204" charset="-122"/>
                <a:cs typeface="微软雅黑" panose="020B0503020204020204" charset="-122"/>
              </a:defRPr>
            </a:pPr>
            <a:r>
              <a:rPr sz="2100" b="0">
                <a:solidFill>
                  <a:srgbClr val="172D3B"/>
                </a:solidFill>
                <a:latin typeface="微软雅黑" panose="020B0503020204020204" charset="-122"/>
                <a:ea typeface="微软雅黑" panose="020B0503020204020204" charset="-122"/>
                <a:cs typeface="微软雅黑" panose="020B0503020204020204" charset="-122"/>
              </a:rPr>
              <a:t>飞书看板与任务关联</a:t>
            </a:r>
            <a:endParaRPr sz="2100" b="0">
              <a:solidFill>
                <a:srgbClr val="172D3B"/>
              </a:solidFill>
              <a:latin typeface="微软雅黑" panose="020B0503020204020204" charset="-122"/>
              <a:ea typeface="微软雅黑" panose="020B0503020204020204" charset="-122"/>
              <a:cs typeface="微软雅黑" panose="020B0503020204020204" charset="-122"/>
            </a:endParaRPr>
          </a:p>
          <a:p>
            <a:pPr algn="l">
              <a:defRPr sz="2100" b="0">
                <a:solidFill>
                  <a:srgbClr val="172D3B"/>
                </a:solidFill>
                <a:latin typeface="微软雅黑" panose="020B0503020204020204" charset="-122"/>
                <a:ea typeface="微软雅黑" panose="020B0503020204020204" charset="-122"/>
                <a:cs typeface="微软雅黑" panose="020B0503020204020204" charset="-122"/>
              </a:defRPr>
            </a:pPr>
            <a:r>
              <a:rPr sz="2100" b="0">
                <a:solidFill>
                  <a:srgbClr val="172D3B"/>
                </a:solidFill>
                <a:latin typeface="微软雅黑" panose="020B0503020204020204" charset="-122"/>
                <a:ea typeface="微软雅黑" panose="020B0503020204020204" charset="-122"/>
                <a:cs typeface="微软雅黑" panose="020B0503020204020204" charset="-122"/>
              </a:rPr>
              <a:t>已确定 MVP 的文档同步</a:t>
            </a:r>
            <a:endParaRPr sz="2100" b="0">
              <a:solidFill>
                <a:srgbClr val="172D3B"/>
              </a:solidFill>
              <a:latin typeface="微软雅黑" panose="020B0503020204020204" charset="-122"/>
              <a:ea typeface="微软雅黑" panose="020B0503020204020204" charset="-122"/>
              <a:cs typeface="微软雅黑" panose="020B0503020204020204" charset="-122"/>
            </a:endParaRPr>
          </a:p>
          <a:p>
            <a:pPr algn="l">
              <a:defRPr sz="2100" b="0">
                <a:solidFill>
                  <a:srgbClr val="172D3B"/>
                </a:solidFill>
                <a:latin typeface="微软雅黑" panose="020B0503020204020204" charset="-122"/>
                <a:ea typeface="微软雅黑" panose="020B0503020204020204" charset="-122"/>
                <a:cs typeface="微软雅黑" panose="020B0503020204020204" charset="-122"/>
              </a:defRPr>
            </a:pPr>
            <a:r>
              <a:rPr sz="2100" b="0">
                <a:solidFill>
                  <a:srgbClr val="172D3B"/>
                </a:solidFill>
                <a:latin typeface="微软雅黑" panose="020B0503020204020204" charset="-122"/>
                <a:ea typeface="微软雅黑" panose="020B0503020204020204" charset="-122"/>
                <a:cs typeface="微软雅黑" panose="020B0503020204020204" charset="-122"/>
              </a:rPr>
              <a:t>Sprint 1 日志查询排期</a:t>
            </a:r>
            <a:endParaRPr sz="2100" b="0">
              <a:solidFill>
                <a:srgbClr val="172D3B"/>
              </a:solidFill>
              <a:latin typeface="微软雅黑" panose="020B0503020204020204" charset="-122"/>
              <a:ea typeface="微软雅黑" panose="020B0503020204020204" charset="-122"/>
              <a:cs typeface="微软雅黑" panose="020B0503020204020204" charset="-122"/>
            </a:endParaRPr>
          </a:p>
          <a:p>
            <a:pPr algn="l">
              <a:defRPr sz="2100" b="0">
                <a:solidFill>
                  <a:srgbClr val="172D3B"/>
                </a:solidFill>
                <a:latin typeface="微软雅黑" panose="020B0503020204020204" charset="-122"/>
                <a:ea typeface="微软雅黑" panose="020B0503020204020204" charset="-122"/>
                <a:cs typeface="微软雅黑" panose="020B0503020204020204" charset="-122"/>
              </a:defRPr>
            </a:pPr>
            <a:r>
              <a:rPr sz="2100" b="0">
                <a:solidFill>
                  <a:srgbClr val="172D3B"/>
                </a:solidFill>
                <a:latin typeface="微软雅黑" panose="020B0503020204020204" charset="-122"/>
                <a:ea typeface="微软雅黑" panose="020B0503020204020204" charset="-122"/>
                <a:cs typeface="微软雅黑" panose="020B0503020204020204" charset="-122"/>
              </a:rPr>
              <a:t>权限规则与验收用例细化</a:t>
            </a:r>
            <a:endParaRPr sz="2100" b="0">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8" name="text-98"/>
          <p:cNvSpPr>
            <a:spLocks noGrp="1"/>
          </p:cNvSpPr>
          <p:nvPr/>
        </p:nvSpPr>
        <p:spPr>
          <a:xfrm>
            <a:off x="628650" y="5114925"/>
            <a:ext cx="10763250" cy="409575"/>
          </a:xfrm>
          <a:prstGeom prst="rect">
            <a:avLst/>
          </a:prstGeom>
          <a:noFill/>
          <a:ln w="0">
            <a:noFill/>
          </a:ln>
        </p:spPr>
        <p:txBody>
          <a:bodyPr>
            <a:noAutofit/>
          </a:bodyPr>
          <a:lstStyle/>
          <a:p>
            <a:pPr algn="l">
              <a:defRPr sz="1875" b="1">
                <a:solidFill>
                  <a:srgbClr val="087F82"/>
                </a:solidFill>
                <a:latin typeface="微软雅黑" panose="020B0503020204020204" charset="-122"/>
                <a:ea typeface="微软雅黑" panose="020B0503020204020204" charset="-122"/>
                <a:cs typeface="微软雅黑" panose="020B0503020204020204" charset="-122"/>
              </a:defRPr>
            </a:pPr>
            <a:r>
              <a:rPr sz="1875" b="1">
                <a:solidFill>
                  <a:srgbClr val="087F82"/>
                </a:solidFill>
                <a:latin typeface="微软雅黑" panose="020B0503020204020204" charset="-122"/>
                <a:ea typeface="微软雅黑" panose="020B0503020204020204" charset="-122"/>
                <a:cs typeface="微软雅黑" panose="020B0503020204020204" charset="-122"/>
              </a:rPr>
              <a:t>已形成日志业务流程的首版方案，当前成果以需求、设计和过程材料为主。</a:t>
            </a:r>
            <a:endParaRPr sz="187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9" name="text-99"/>
          <p:cNvSpPr>
            <a:spLocks noGrp="1"/>
          </p:cNvSpPr>
          <p:nvPr/>
        </p:nvSpPr>
        <p:spPr>
          <a:xfrm>
            <a:off x="628650" y="5610225"/>
            <a:ext cx="10763250" cy="3810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看板任务记录 Sprint、故事编号、change/task、负责人、状态及验收证据。</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10" name="text-100"/>
          <p:cNvSpPr>
            <a:spLocks noGrp="1"/>
          </p:cNvSpPr>
          <p:nvPr/>
        </p:nvSpPr>
        <p:spPr>
          <a:xfrm>
            <a:off x="628650" y="6010275"/>
            <a:ext cx="10763250" cy="36195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产品文档、Backlog、OpenSpec 与飞书看板同步更新，保证计划与规格一致。</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6" name="text-101"/>
          <p:cNvSpPr>
            <a:spLocks noGrp="1"/>
          </p:cNvSpPr>
          <p:nvPr/>
        </p:nvSpPr>
        <p:spPr>
          <a:xfrm>
            <a:off x="609600" y="381000"/>
            <a:ext cx="10972800" cy="609600"/>
          </a:xfrm>
          <a:prstGeom prst="rect">
            <a:avLst/>
          </a:prstGeom>
          <a:noFill/>
          <a:ln w="0">
            <a:noFill/>
          </a:ln>
        </p:spPr>
        <p:txBody>
          <a:bodyPr>
            <a:noAutofit/>
          </a:bodyPr>
          <a:lstStyle/>
          <a:p>
            <a:pPr algn="l">
              <a:defRPr sz="3225" b="1">
                <a:solidFill>
                  <a:srgbClr val="172D3B"/>
                </a:solidFill>
                <a:latin typeface="微软雅黑" panose="020B0503020204020204" charset="-122"/>
                <a:ea typeface="微软雅黑" panose="020B0503020204020204" charset="-122"/>
                <a:cs typeface="微软雅黑" panose="020B0503020204020204" charset="-122"/>
              </a:defRPr>
            </a:pPr>
            <a:r>
              <a:rPr sz="3225" b="1">
                <a:solidFill>
                  <a:srgbClr val="172D3B"/>
                </a:solidFill>
                <a:latin typeface="微软雅黑" panose="020B0503020204020204" charset="-122"/>
                <a:ea typeface="微软雅黑" panose="020B0503020204020204" charset="-122"/>
                <a:cs typeface="微软雅黑" panose="020B0503020204020204" charset="-122"/>
              </a:rPr>
              <a:t>迭代计划与阶段交付物</a:t>
            </a:r>
            <a:endParaRPr sz="322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2" name="text-102"/>
          <p:cNvSpPr>
            <a:spLocks noGrp="1"/>
          </p:cNvSpPr>
          <p:nvPr/>
        </p:nvSpPr>
        <p:spPr>
          <a:xfrm>
            <a:off x="628650" y="1057275"/>
            <a:ext cx="10934700" cy="4572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依据可演示、可验收的业务增量安排开发顺序</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3" name="text-103"/>
          <p:cNvSpPr>
            <a:spLocks noGrp="1"/>
          </p:cNvSpPr>
          <p:nvPr/>
        </p:nvSpPr>
        <p:spPr>
          <a:xfrm>
            <a:off x="10953750" y="6419850"/>
            <a:ext cx="590550" cy="238125"/>
          </a:xfrm>
          <a:prstGeom prst="rect">
            <a:avLst/>
          </a:prstGeom>
          <a:noFill/>
          <a:ln w="0">
            <a:noFill/>
          </a:ln>
        </p:spPr>
        <p:txBody>
          <a:bodyPr>
            <a:noAutofit/>
          </a:bodyPr>
          <a:lstStyle/>
          <a:p>
            <a:pPr algn="r">
              <a:defRPr sz="1275" b="0">
                <a:solidFill>
                  <a:srgbClr val="576873"/>
                </a:solidFill>
                <a:latin typeface="微软雅黑" panose="020B0503020204020204" charset="-122"/>
                <a:ea typeface="微软雅黑" panose="020B0503020204020204" charset="-122"/>
                <a:cs typeface="微软雅黑" panose="020B0503020204020204" charset="-122"/>
              </a:defRPr>
            </a:pPr>
            <a:r>
              <a:rPr sz="1275" b="0">
                <a:solidFill>
                  <a:srgbClr val="576873"/>
                </a:solidFill>
                <a:latin typeface="微软雅黑" panose="020B0503020204020204" charset="-122"/>
                <a:ea typeface="微软雅黑" panose="020B0503020204020204" charset="-122"/>
                <a:cs typeface="微软雅黑" panose="020B0503020204020204" charset="-122"/>
              </a:rPr>
              <a:t>10</a:t>
            </a:r>
            <a:endParaRPr sz="1275" b="0">
              <a:solidFill>
                <a:srgbClr val="576873"/>
              </a:solidFill>
              <a:latin typeface="微软雅黑" panose="020B0503020204020204" charset="-122"/>
              <a:ea typeface="微软雅黑" panose="020B0503020204020204" charset="-122"/>
              <a:cs typeface="微软雅黑" panose="020B0503020204020204" charset="-122"/>
            </a:endParaRPr>
          </a:p>
        </p:txBody>
      </p:sp>
      <p:graphicFrame>
        <p:nvGraphicFramePr>
          <p:cNvPr id="9" name="表格 8"/>
          <p:cNvGraphicFramePr/>
          <p:nvPr/>
        </p:nvGraphicFramePr>
        <p:xfrm>
          <a:off x="609600" y="1790700"/>
          <a:ext cx="10972800" cy="3714750"/>
        </p:xfrm>
        <a:graphic>
          <a:graphicData uri="http://schemas.openxmlformats.org/drawingml/2006/table">
            <a:tbl>
              <a:tblPr/>
              <a:tblGrid>
                <a:gridCol w="2095500"/>
                <a:gridCol w="2000250"/>
                <a:gridCol w="6877050"/>
              </a:tblGrid>
              <a:tr h="619125">
                <a:tc>
                  <a:txBody>
                    <a:bodyPr>
                      <a:spAutoFit/>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阶段</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c>
                  <a:txBody>
                    <a:bodyPr>
                      <a:spAutoFit/>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时间</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c>
                  <a:txBody>
                    <a:bodyPr>
                      <a:spAutoFit/>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阶段交付物</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r>
              <a:tr h="619125">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Sprint 0</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第 1–3 周</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需求与 MVP 方案、原型、数据模型、项目看板</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19125">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Sprint 1</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第 4–6 周</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日志录入、持久化保存、个人与上级授权查询</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r>
              <a:tr h="619125">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Sprint 2</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第 7–9 周</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任务进度闭环、四板块完善、日周月视图</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19125">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Sprint 3</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第 10–14 周</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缺陷修复、系统测试、两项非功能验证</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r>
              <a:tr h="619125">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Final</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第 15–16 周</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800" b="0">
                          <a:solidFill>
                            <a:srgbClr val="172D3B"/>
                          </a:solidFill>
                          <a:latin typeface="微软雅黑" panose="020B0503020204020204" charset="-122"/>
                          <a:ea typeface="微软雅黑" panose="020B0503020204020204" charset="-122"/>
                          <a:cs typeface="微软雅黑" panose="020B0503020204020204" charset="-122"/>
                        </a:rPr>
                        <a:t>可运行系统、完整文档、视频与答辩材料</a:t>
                      </a:r>
                      <a:endParaRPr sz="1800"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5" name="text-104"/>
          <p:cNvSpPr>
            <a:spLocks noGrp="1"/>
          </p:cNvSpPr>
          <p:nvPr/>
        </p:nvSpPr>
        <p:spPr>
          <a:xfrm>
            <a:off x="628650" y="5867400"/>
            <a:ext cx="10763250" cy="447675"/>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各 Sprint 保留可演示成果、PR 审阅、测试记录和规格更新，支持过程验收。</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6" name="text-105"/>
          <p:cNvSpPr>
            <a:spLocks noGrp="1"/>
          </p:cNvSpPr>
          <p:nvPr/>
        </p:nvSpPr>
        <p:spPr>
          <a:xfrm>
            <a:off x="609600" y="381000"/>
            <a:ext cx="10972800" cy="609600"/>
          </a:xfrm>
          <a:prstGeom prst="rect">
            <a:avLst/>
          </a:prstGeom>
          <a:noFill/>
          <a:ln w="0">
            <a:noFill/>
          </a:ln>
        </p:spPr>
        <p:txBody>
          <a:bodyPr>
            <a:noAutofit/>
          </a:bodyPr>
          <a:lstStyle/>
          <a:p>
            <a:pPr algn="l">
              <a:defRPr sz="3225" b="1">
                <a:solidFill>
                  <a:srgbClr val="172D3B"/>
                </a:solidFill>
                <a:latin typeface="微软雅黑" panose="020B0503020204020204" charset="-122"/>
                <a:ea typeface="微软雅黑" panose="020B0503020204020204" charset="-122"/>
                <a:cs typeface="微软雅黑" panose="020B0503020204020204" charset="-122"/>
              </a:defRPr>
            </a:pPr>
            <a:r>
              <a:rPr sz="3225" b="1">
                <a:solidFill>
                  <a:srgbClr val="172D3B"/>
                </a:solidFill>
                <a:latin typeface="微软雅黑" panose="020B0503020204020204" charset="-122"/>
                <a:ea typeface="微软雅黑" panose="020B0503020204020204" charset="-122"/>
                <a:cs typeface="微软雅黑" panose="020B0503020204020204" charset="-122"/>
              </a:rPr>
              <a:t>团队分工与职责安排</a:t>
            </a:r>
            <a:endParaRPr sz="322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2" name="text-106"/>
          <p:cNvSpPr>
            <a:spLocks noGrp="1"/>
          </p:cNvSpPr>
          <p:nvPr/>
        </p:nvSpPr>
        <p:spPr>
          <a:xfrm>
            <a:off x="628650" y="1057275"/>
            <a:ext cx="10934700" cy="4572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按业务模块划分职责，全体成员共同承担开发与测试工作</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3" name="text-107"/>
          <p:cNvSpPr>
            <a:spLocks noGrp="1"/>
          </p:cNvSpPr>
          <p:nvPr/>
        </p:nvSpPr>
        <p:spPr>
          <a:xfrm>
            <a:off x="10953750" y="6419850"/>
            <a:ext cx="590550" cy="238125"/>
          </a:xfrm>
          <a:prstGeom prst="rect">
            <a:avLst/>
          </a:prstGeom>
          <a:noFill/>
          <a:ln w="0">
            <a:noFill/>
          </a:ln>
        </p:spPr>
        <p:txBody>
          <a:bodyPr>
            <a:noAutofit/>
          </a:bodyPr>
          <a:lstStyle/>
          <a:p>
            <a:pPr algn="r">
              <a:defRPr sz="1275" b="0">
                <a:solidFill>
                  <a:srgbClr val="576873"/>
                </a:solidFill>
                <a:latin typeface="微软雅黑" panose="020B0503020204020204" charset="-122"/>
                <a:ea typeface="微软雅黑" panose="020B0503020204020204" charset="-122"/>
                <a:cs typeface="微软雅黑" panose="020B0503020204020204" charset="-122"/>
              </a:defRPr>
            </a:pPr>
            <a:r>
              <a:rPr sz="1275" b="0">
                <a:solidFill>
                  <a:srgbClr val="576873"/>
                </a:solidFill>
                <a:latin typeface="微软雅黑" panose="020B0503020204020204" charset="-122"/>
                <a:ea typeface="微软雅黑" panose="020B0503020204020204" charset="-122"/>
                <a:cs typeface="微软雅黑" panose="020B0503020204020204" charset="-122"/>
              </a:rPr>
              <a:t>11</a:t>
            </a:r>
            <a:endParaRPr sz="1275" b="0">
              <a:solidFill>
                <a:srgbClr val="576873"/>
              </a:solidFill>
              <a:latin typeface="微软雅黑" panose="020B0503020204020204" charset="-122"/>
              <a:ea typeface="微软雅黑" panose="020B0503020204020204" charset="-122"/>
              <a:cs typeface="微软雅黑" panose="020B0503020204020204" charset="-122"/>
            </a:endParaRPr>
          </a:p>
        </p:txBody>
      </p:sp>
      <p:graphicFrame>
        <p:nvGraphicFramePr>
          <p:cNvPr id="9" name="表格 8"/>
          <p:cNvGraphicFramePr/>
          <p:nvPr/>
        </p:nvGraphicFramePr>
        <p:xfrm>
          <a:off x="609600" y="1790700"/>
          <a:ext cx="10972800" cy="3714750"/>
        </p:xfrm>
        <a:graphic>
          <a:graphicData uri="http://schemas.openxmlformats.org/drawingml/2006/table">
            <a:tbl>
              <a:tblPr/>
              <a:tblGrid>
                <a:gridCol w="2095500"/>
                <a:gridCol w="4343400"/>
                <a:gridCol w="4533900"/>
              </a:tblGrid>
              <a:tr h="619125">
                <a:tc>
                  <a:txBody>
                    <a:bodyPr>
                      <a:spAutoFit/>
                    </a:bodyPr>
                    <a:lstStyle/>
                    <a:p>
                      <a:r>
                        <a:rPr sz="1725" b="1">
                          <a:solidFill>
                            <a:srgbClr val="FFFFFF"/>
                          </a:solidFill>
                          <a:latin typeface="微软雅黑" panose="020B0503020204020204" charset="-122"/>
                          <a:ea typeface="微软雅黑" panose="020B0503020204020204" charset="-122"/>
                          <a:cs typeface="微软雅黑" panose="020B0503020204020204" charset="-122"/>
                        </a:rPr>
                        <a:t>成员</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c>
                  <a:txBody>
                    <a:bodyPr>
                      <a:spAutoFit/>
                    </a:bodyPr>
                    <a:lstStyle/>
                    <a:p>
                      <a:r>
                        <a:rPr sz="1725" b="1">
                          <a:solidFill>
                            <a:srgbClr val="FFFFFF"/>
                          </a:solidFill>
                          <a:latin typeface="微软雅黑" panose="020B0503020204020204" charset="-122"/>
                          <a:ea typeface="微软雅黑" panose="020B0503020204020204" charset="-122"/>
                          <a:cs typeface="微软雅黑" panose="020B0503020204020204" charset="-122"/>
                        </a:rPr>
                        <a:t>主要开发职责</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c>
                  <a:txBody>
                    <a:bodyPr>
                      <a:spAutoFit/>
                    </a:bodyPr>
                    <a:lstStyle/>
                    <a:p>
                      <a:r>
                        <a:rPr sz="1725" b="1">
                          <a:solidFill>
                            <a:srgbClr val="FFFFFF"/>
                          </a:solidFill>
                          <a:latin typeface="微软雅黑" panose="020B0503020204020204" charset="-122"/>
                          <a:ea typeface="微软雅黑" panose="020B0503020204020204" charset="-122"/>
                          <a:cs typeface="微软雅黑" panose="020B0503020204020204" charset="-122"/>
                        </a:rPr>
                        <a:t>Sprint 1 交付与测试</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172D3B"/>
                    </a:solidFill>
                  </a:tcPr>
                </a:tc>
              </a:tr>
              <a:tr h="619125">
                <a:tc>
                  <a:txBody>
                    <a:bodyPr>
                      <a:spAutoFit/>
                    </a:bodyPr>
                    <a:lstStyle/>
                    <a:p>
                      <a:r>
                        <a:rPr lang="zh-CN" sz="1725" b="0">
                          <a:solidFill>
                            <a:srgbClr val="172D3B"/>
                          </a:solidFill>
                          <a:latin typeface="微软雅黑" panose="020B0503020204020204" charset="-122"/>
                          <a:ea typeface="微软雅黑" panose="020B0503020204020204" charset="-122"/>
                          <a:cs typeface="微软雅黑" panose="020B0503020204020204" charset="-122"/>
                        </a:rPr>
                        <a:t>刘彭</a:t>
                      </a:r>
                      <a:r>
                        <a:rPr lang="zh-CN" sz="1725" b="0">
                          <a:solidFill>
                            <a:srgbClr val="172D3B"/>
                          </a:solidFill>
                          <a:latin typeface="微软雅黑" panose="020B0503020204020204" charset="-122"/>
                          <a:ea typeface="微软雅黑" panose="020B0503020204020204" charset="-122"/>
                          <a:cs typeface="微软雅黑" panose="020B0503020204020204" charset="-122"/>
                        </a:rPr>
                        <a:t>潮</a:t>
                      </a:r>
                      <a:endParaRPr lang="zh-CN"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725" b="0">
                          <a:solidFill>
                            <a:srgbClr val="172D3B"/>
                          </a:solidFill>
                          <a:latin typeface="微软雅黑" panose="020B0503020204020204" charset="-122"/>
                          <a:ea typeface="微软雅黑" panose="020B0503020204020204" charset="-122"/>
                          <a:cs typeface="微软雅黑" panose="020B0503020204020204" charset="-122"/>
                        </a:rPr>
                        <a:t>账号与组织权限，过程协调</a:t>
                      </a:r>
                      <a:endParaRPr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725" b="0">
                          <a:solidFill>
                            <a:srgbClr val="172D3B"/>
                          </a:solidFill>
                          <a:latin typeface="微软雅黑" panose="020B0503020204020204" charset="-122"/>
                          <a:ea typeface="微软雅黑" panose="020B0503020204020204" charset="-122"/>
                          <a:cs typeface="微软雅黑" panose="020B0503020204020204" charset="-122"/>
                        </a:rPr>
                        <a:t>登录鉴权、上下级关系、越权用例</a:t>
                      </a:r>
                      <a:endParaRPr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19125">
                <a:tc>
                  <a:txBody>
                    <a:bodyPr>
                      <a:spAutoFit/>
                    </a:bodyPr>
                    <a:lstStyle/>
                    <a:p>
                      <a:r>
                        <a:rPr lang="zh-CN" sz="1725" b="0">
                          <a:solidFill>
                            <a:srgbClr val="172D3B"/>
                          </a:solidFill>
                          <a:latin typeface="微软雅黑" panose="020B0503020204020204" charset="-122"/>
                          <a:ea typeface="微软雅黑" panose="020B0503020204020204" charset="-122"/>
                          <a:cs typeface="微软雅黑" panose="020B0503020204020204" charset="-122"/>
                        </a:rPr>
                        <a:t>唐高鹏</a:t>
                      </a:r>
                      <a:endParaRPr lang="zh-CN"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c>
                  <a:txBody>
                    <a:bodyPr>
                      <a:spAutoFit/>
                    </a:bodyPr>
                    <a:lstStyle/>
                    <a:p>
                      <a:r>
                        <a:rPr sz="1725" b="0">
                          <a:solidFill>
                            <a:srgbClr val="172D3B"/>
                          </a:solidFill>
                          <a:latin typeface="微软雅黑" panose="020B0503020204020204" charset="-122"/>
                          <a:ea typeface="微软雅黑" panose="020B0503020204020204" charset="-122"/>
                          <a:cs typeface="微软雅黑" panose="020B0503020204020204" charset="-122"/>
                        </a:rPr>
                        <a:t>日志 / 任务 API，MySQL / Flyway</a:t>
                      </a:r>
                      <a:endParaRPr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c>
                  <a:txBody>
                    <a:bodyPr>
                      <a:spAutoFit/>
                    </a:bodyPr>
                    <a:lstStyle/>
                    <a:p>
                      <a:r>
                        <a:rPr sz="1725" b="0">
                          <a:solidFill>
                            <a:srgbClr val="172D3B"/>
                          </a:solidFill>
                          <a:latin typeface="微软雅黑" panose="020B0503020204020204" charset="-122"/>
                          <a:ea typeface="微软雅黑" panose="020B0503020204020204" charset="-122"/>
                          <a:cs typeface="微软雅黑" panose="020B0503020204020204" charset="-122"/>
                        </a:rPr>
                        <a:t>日志保存与查询，业务单元测试</a:t>
                      </a:r>
                      <a:endParaRPr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r>
              <a:tr h="619125">
                <a:tc>
                  <a:txBody>
                    <a:bodyPr>
                      <a:spAutoFit/>
                    </a:bodyPr>
                    <a:lstStyle/>
                    <a:p>
                      <a:r>
                        <a:rPr lang="zh-CN" sz="1725" b="0">
                          <a:solidFill>
                            <a:srgbClr val="172D3B"/>
                          </a:solidFill>
                          <a:latin typeface="微软雅黑" panose="020B0503020204020204" charset="-122"/>
                          <a:ea typeface="微软雅黑" panose="020B0503020204020204" charset="-122"/>
                          <a:cs typeface="微软雅黑" panose="020B0503020204020204" charset="-122"/>
                        </a:rPr>
                        <a:t>祝</a:t>
                      </a:r>
                      <a:r>
                        <a:rPr lang="zh-CN" sz="1725" b="0">
                          <a:solidFill>
                            <a:srgbClr val="172D3B"/>
                          </a:solidFill>
                          <a:latin typeface="微软雅黑" panose="020B0503020204020204" charset="-122"/>
                          <a:ea typeface="微软雅黑" panose="020B0503020204020204" charset="-122"/>
                          <a:cs typeface="微软雅黑" panose="020B0503020204020204" charset="-122"/>
                        </a:rPr>
                        <a:t>霖瑞</a:t>
                      </a:r>
                      <a:endParaRPr lang="zh-CN"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725" b="0">
                          <a:solidFill>
                            <a:srgbClr val="172D3B"/>
                          </a:solidFill>
                          <a:latin typeface="微软雅黑" panose="020B0503020204020204" charset="-122"/>
                          <a:ea typeface="微软雅黑" panose="020B0503020204020204" charset="-122"/>
                          <a:cs typeface="微软雅黑" panose="020B0503020204020204" charset="-122"/>
                        </a:rPr>
                        <a:t>Android 工程、日志、四板块</a:t>
                      </a:r>
                      <a:endParaRPr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725" b="0">
                          <a:solidFill>
                            <a:srgbClr val="172D3B"/>
                          </a:solidFill>
                          <a:latin typeface="微软雅黑" panose="020B0503020204020204" charset="-122"/>
                          <a:ea typeface="微软雅黑" panose="020B0503020204020204" charset="-122"/>
                          <a:cs typeface="微软雅黑" panose="020B0503020204020204" charset="-122"/>
                        </a:rPr>
                        <a:t>登录接入、日志录入、移动端冒烟测试</a:t>
                      </a:r>
                      <a:endParaRPr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19125">
                <a:tc>
                  <a:txBody>
                    <a:bodyPr>
                      <a:spAutoFit/>
                    </a:bodyPr>
                    <a:lstStyle/>
                    <a:p>
                      <a:r>
                        <a:rPr lang="zh-CN" sz="1725" b="0">
                          <a:solidFill>
                            <a:srgbClr val="172D3B"/>
                          </a:solidFill>
                          <a:latin typeface="微软雅黑" panose="020B0503020204020204" charset="-122"/>
                          <a:ea typeface="微软雅黑" panose="020B0503020204020204" charset="-122"/>
                          <a:cs typeface="微软雅黑" panose="020B0503020204020204" charset="-122"/>
                        </a:rPr>
                        <a:t>牛雨</a:t>
                      </a:r>
                      <a:r>
                        <a:rPr lang="zh-CN" sz="1725" b="0">
                          <a:solidFill>
                            <a:srgbClr val="172D3B"/>
                          </a:solidFill>
                          <a:latin typeface="微软雅黑" panose="020B0503020204020204" charset="-122"/>
                          <a:ea typeface="微软雅黑" panose="020B0503020204020204" charset="-122"/>
                          <a:cs typeface="微软雅黑" panose="020B0503020204020204" charset="-122"/>
                        </a:rPr>
                        <a:t>昊</a:t>
                      </a:r>
                      <a:endParaRPr lang="zh-CN"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c>
                  <a:txBody>
                    <a:bodyPr>
                      <a:spAutoFit/>
                    </a:bodyPr>
                    <a:lstStyle/>
                    <a:p>
                      <a:r>
                        <a:rPr sz="1725" b="0">
                          <a:solidFill>
                            <a:srgbClr val="172D3B"/>
                          </a:solidFill>
                          <a:latin typeface="微软雅黑" panose="020B0503020204020204" charset="-122"/>
                          <a:ea typeface="微软雅黑" panose="020B0503020204020204" charset="-122"/>
                          <a:cs typeface="微软雅黑" panose="020B0503020204020204" charset="-122"/>
                        </a:rPr>
                        <a:t>日周月视图，集成测试协调</a:t>
                      </a:r>
                      <a:endParaRPr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c>
                  <a:txBody>
                    <a:bodyPr>
                      <a:spAutoFit/>
                    </a:bodyPr>
                    <a:lstStyle/>
                    <a:p>
                      <a:r>
                        <a:rPr sz="1725" b="0">
                          <a:solidFill>
                            <a:srgbClr val="172D3B"/>
                          </a:solidFill>
                          <a:latin typeface="微软雅黑" panose="020B0503020204020204" charset="-122"/>
                          <a:ea typeface="微软雅黑" panose="020B0503020204020204" charset="-122"/>
                          <a:cs typeface="微软雅黑" panose="020B0503020204020204" charset="-122"/>
                        </a:rPr>
                        <a:t>个人查询 / 日视图、双端流程验收</a:t>
                      </a:r>
                      <a:endParaRPr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EAF3F2"/>
                    </a:solidFill>
                  </a:tcPr>
                </a:tc>
              </a:tr>
              <a:tr h="619125">
                <a:tc>
                  <a:txBody>
                    <a:bodyPr>
                      <a:spAutoFit/>
                    </a:bodyPr>
                    <a:lstStyle/>
                    <a:p>
                      <a:r>
                        <a:rPr lang="zh-CN" sz="1725" b="0">
                          <a:solidFill>
                            <a:srgbClr val="172D3B"/>
                          </a:solidFill>
                          <a:latin typeface="微软雅黑" panose="020B0503020204020204" charset="-122"/>
                          <a:ea typeface="微软雅黑" panose="020B0503020204020204" charset="-122"/>
                          <a:cs typeface="微软雅黑" panose="020B0503020204020204" charset="-122"/>
                        </a:rPr>
                        <a:t>汪</a:t>
                      </a:r>
                      <a:r>
                        <a:rPr lang="zh-CN" sz="1725" b="0">
                          <a:solidFill>
                            <a:srgbClr val="172D3B"/>
                          </a:solidFill>
                          <a:latin typeface="微软雅黑" panose="020B0503020204020204" charset="-122"/>
                          <a:ea typeface="微软雅黑" panose="020B0503020204020204" charset="-122"/>
                          <a:cs typeface="微软雅黑" panose="020B0503020204020204" charset="-122"/>
                        </a:rPr>
                        <a:t>士涵</a:t>
                      </a:r>
                      <a:endParaRPr lang="zh-CN"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725" b="0">
                          <a:solidFill>
                            <a:srgbClr val="172D3B"/>
                          </a:solidFill>
                          <a:latin typeface="微软雅黑" panose="020B0503020204020204" charset="-122"/>
                          <a:ea typeface="微软雅黑" panose="020B0503020204020204" charset="-122"/>
                          <a:cs typeface="微软雅黑" panose="020B0503020204020204" charset="-122"/>
                        </a:rPr>
                        <a:t>Web 管理端</a:t>
                      </a:r>
                      <a:endParaRPr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r>
                        <a:rPr sz="1725" b="0">
                          <a:solidFill>
                            <a:srgbClr val="172D3B"/>
                          </a:solidFill>
                          <a:latin typeface="微软雅黑" panose="020B0503020204020204" charset="-122"/>
                          <a:ea typeface="微软雅黑" panose="020B0503020204020204" charset="-122"/>
                          <a:cs typeface="微软雅黑" panose="020B0503020204020204" charset="-122"/>
                        </a:rPr>
                        <a:t>Web 登录、下属日志查询、Web 验收</a:t>
                      </a:r>
                      <a:endParaRPr sz="1725" b="0">
                        <a:solidFill>
                          <a:srgbClr val="172D3B"/>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5" name="text-108"/>
          <p:cNvSpPr>
            <a:spLocks noGrp="1"/>
          </p:cNvSpPr>
          <p:nvPr/>
        </p:nvSpPr>
        <p:spPr>
          <a:xfrm>
            <a:off x="628650" y="5867400"/>
            <a:ext cx="10763250" cy="447675"/>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后端与端侧共同评审接口；合并前由非作者审阅，各成员提交对应测试证据。</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16" name="text-109"/>
          <p:cNvSpPr>
            <a:spLocks noGrp="1"/>
          </p:cNvSpPr>
          <p:nvPr/>
        </p:nvSpPr>
        <p:spPr>
          <a:xfrm>
            <a:off x="609600" y="381000"/>
            <a:ext cx="10972800" cy="609600"/>
          </a:xfrm>
          <a:prstGeom prst="rect">
            <a:avLst/>
          </a:prstGeom>
          <a:noFill/>
          <a:ln w="0">
            <a:noFill/>
          </a:ln>
        </p:spPr>
        <p:txBody>
          <a:bodyPr>
            <a:noAutofit/>
          </a:bodyPr>
          <a:lstStyle/>
          <a:p>
            <a:pPr algn="l">
              <a:defRPr sz="3225" b="1">
                <a:solidFill>
                  <a:srgbClr val="172D3B"/>
                </a:solidFill>
                <a:latin typeface="微软雅黑" panose="020B0503020204020204" charset="-122"/>
                <a:ea typeface="微软雅黑" panose="020B0503020204020204" charset="-122"/>
                <a:cs typeface="微软雅黑" panose="020B0503020204020204" charset="-122"/>
              </a:defRPr>
            </a:pPr>
            <a:r>
              <a:rPr sz="3225" b="1">
                <a:solidFill>
                  <a:srgbClr val="172D3B"/>
                </a:solidFill>
                <a:latin typeface="微软雅黑" panose="020B0503020204020204" charset="-122"/>
                <a:ea typeface="微软雅黑" panose="020B0503020204020204" charset="-122"/>
                <a:cs typeface="微软雅黑" panose="020B0503020204020204" charset="-122"/>
              </a:rPr>
              <a:t>本阶段结论与后续工作</a:t>
            </a:r>
            <a:endParaRPr sz="322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2" name="text-110"/>
          <p:cNvSpPr>
            <a:spLocks noGrp="1"/>
          </p:cNvSpPr>
          <p:nvPr/>
        </p:nvSpPr>
        <p:spPr>
          <a:xfrm>
            <a:off x="628650" y="1057275"/>
            <a:ext cx="10934700" cy="457200"/>
          </a:xfrm>
          <a:prstGeom prst="rect">
            <a:avLst/>
          </a:prstGeom>
          <a:noFill/>
          <a:ln w="0">
            <a:noFill/>
          </a:ln>
        </p:spPr>
        <p:txBody>
          <a:bodyPr>
            <a:noAutofit/>
          </a:bodyPr>
          <a:lstStyle/>
          <a:p>
            <a:pPr algn="l">
              <a:defRPr sz="1725" b="0">
                <a:solidFill>
                  <a:srgbClr val="576873"/>
                </a:solidFill>
                <a:latin typeface="微软雅黑" panose="020B0503020204020204" charset="-122"/>
                <a:ea typeface="微软雅黑" panose="020B0503020204020204" charset="-122"/>
                <a:cs typeface="微软雅黑" panose="020B0503020204020204" charset="-122"/>
              </a:defRPr>
            </a:pPr>
            <a:r>
              <a:rPr sz="1725" b="0">
                <a:solidFill>
                  <a:srgbClr val="576873"/>
                </a:solidFill>
                <a:latin typeface="微软雅黑" panose="020B0503020204020204" charset="-122"/>
                <a:ea typeface="微软雅黑" panose="020B0503020204020204" charset="-122"/>
                <a:cs typeface="微软雅黑" panose="020B0503020204020204" charset="-122"/>
              </a:rPr>
              <a:t>围绕已确定的 MVP 方案完善开发准备与协作安排</a:t>
            </a:r>
            <a:endParaRPr sz="172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3" name="text-111"/>
          <p:cNvSpPr>
            <a:spLocks noGrp="1"/>
          </p:cNvSpPr>
          <p:nvPr/>
        </p:nvSpPr>
        <p:spPr>
          <a:xfrm>
            <a:off x="10953750" y="6419850"/>
            <a:ext cx="590550" cy="238125"/>
          </a:xfrm>
          <a:prstGeom prst="rect">
            <a:avLst/>
          </a:prstGeom>
          <a:noFill/>
          <a:ln w="0">
            <a:noFill/>
          </a:ln>
        </p:spPr>
        <p:txBody>
          <a:bodyPr>
            <a:noAutofit/>
          </a:bodyPr>
          <a:lstStyle/>
          <a:p>
            <a:pPr algn="r">
              <a:defRPr sz="1275" b="0">
                <a:solidFill>
                  <a:srgbClr val="576873"/>
                </a:solidFill>
                <a:latin typeface="微软雅黑" panose="020B0503020204020204" charset="-122"/>
                <a:ea typeface="微软雅黑" panose="020B0503020204020204" charset="-122"/>
                <a:cs typeface="微软雅黑" panose="020B0503020204020204" charset="-122"/>
              </a:defRPr>
            </a:pPr>
            <a:r>
              <a:rPr sz="1275" b="0">
                <a:solidFill>
                  <a:srgbClr val="576873"/>
                </a:solidFill>
                <a:latin typeface="微软雅黑" panose="020B0503020204020204" charset="-122"/>
                <a:ea typeface="微软雅黑" panose="020B0503020204020204" charset="-122"/>
                <a:cs typeface="微软雅黑" panose="020B0503020204020204" charset="-122"/>
              </a:rPr>
              <a:t>12</a:t>
            </a:r>
            <a:endParaRPr sz="127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4" name="text-112"/>
          <p:cNvSpPr>
            <a:spLocks noGrp="1"/>
          </p:cNvSpPr>
          <p:nvPr/>
        </p:nvSpPr>
        <p:spPr>
          <a:xfrm>
            <a:off x="628650" y="1714500"/>
            <a:ext cx="685800" cy="457200"/>
          </a:xfrm>
          <a:prstGeom prst="rect">
            <a:avLst/>
          </a:prstGeom>
          <a:noFill/>
          <a:ln w="0">
            <a:noFill/>
          </a:ln>
        </p:spPr>
        <p:txBody>
          <a:bodyPr>
            <a:noAutofit/>
          </a:bodyPr>
          <a:lstStyle/>
          <a:p>
            <a:pPr algn="l">
              <a:defRPr sz="2475" b="1">
                <a:solidFill>
                  <a:srgbClr val="087F82"/>
                </a:solidFill>
                <a:latin typeface="微软雅黑" panose="020B0503020204020204" charset="-122"/>
                <a:ea typeface="微软雅黑" panose="020B0503020204020204" charset="-122"/>
                <a:cs typeface="微软雅黑" panose="020B0503020204020204" charset="-122"/>
              </a:defRPr>
            </a:pPr>
            <a:r>
              <a:rPr sz="2475" b="1">
                <a:solidFill>
                  <a:srgbClr val="087F82"/>
                </a:solidFill>
                <a:latin typeface="微软雅黑" panose="020B0503020204020204" charset="-122"/>
                <a:ea typeface="微软雅黑" panose="020B0503020204020204" charset="-122"/>
                <a:cs typeface="微软雅黑" panose="020B0503020204020204" charset="-122"/>
              </a:rPr>
              <a:t>01</a:t>
            </a:r>
            <a:endParaRPr sz="247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5" name="text-113"/>
          <p:cNvSpPr>
            <a:spLocks noGrp="1"/>
          </p:cNvSpPr>
          <p:nvPr/>
        </p:nvSpPr>
        <p:spPr>
          <a:xfrm>
            <a:off x="1485900" y="1714500"/>
            <a:ext cx="9620250" cy="409575"/>
          </a:xfrm>
          <a:prstGeom prst="rect">
            <a:avLst/>
          </a:prstGeom>
          <a:noFill/>
          <a:ln w="0">
            <a:noFill/>
          </a:ln>
        </p:spPr>
        <p:txBody>
          <a:bodyPr>
            <a:noAutofit/>
          </a:bodyPr>
          <a:lstStyle/>
          <a:p>
            <a:pPr algn="l">
              <a:defRPr sz="2175" b="1">
                <a:solidFill>
                  <a:srgbClr val="172D3B"/>
                </a:solidFill>
                <a:latin typeface="微软雅黑" panose="020B0503020204020204" charset="-122"/>
                <a:ea typeface="微软雅黑" panose="020B0503020204020204" charset="-122"/>
                <a:cs typeface="微软雅黑" panose="020B0503020204020204" charset="-122"/>
              </a:defRPr>
            </a:pPr>
            <a:r>
              <a:rPr sz="2175" b="1">
                <a:solidFill>
                  <a:srgbClr val="172D3B"/>
                </a:solidFill>
                <a:latin typeface="微软雅黑" panose="020B0503020204020204" charset="-122"/>
                <a:ea typeface="微软雅黑" panose="020B0503020204020204" charset="-122"/>
                <a:cs typeface="微软雅黑" panose="020B0503020204020204" charset="-122"/>
              </a:rPr>
              <a:t>首版产品范围</a:t>
            </a:r>
            <a:endParaRPr sz="217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6" name="text-114"/>
          <p:cNvSpPr>
            <a:spLocks noGrp="1"/>
          </p:cNvSpPr>
          <p:nvPr/>
        </p:nvSpPr>
        <p:spPr>
          <a:xfrm>
            <a:off x="1485900" y="2190750"/>
            <a:ext cx="9620250" cy="619125"/>
          </a:xfrm>
          <a:prstGeom prst="rect">
            <a:avLst/>
          </a:prstGeom>
          <a:noFill/>
          <a:ln w="0">
            <a:noFill/>
          </a:ln>
        </p:spPr>
        <p:txBody>
          <a:bodyPr>
            <a:noAutofit/>
          </a:bodyPr>
          <a:lstStyle/>
          <a:p>
            <a:pPr algn="l">
              <a:defRPr sz="1875" b="0">
                <a:solidFill>
                  <a:srgbClr val="576873"/>
                </a:solidFill>
                <a:latin typeface="微软雅黑" panose="020B0503020204020204" charset="-122"/>
                <a:ea typeface="微软雅黑" panose="020B0503020204020204" charset="-122"/>
                <a:cs typeface="微软雅黑" panose="020B0503020204020204" charset="-122"/>
              </a:defRPr>
            </a:pPr>
            <a:r>
              <a:rPr sz="1875" b="0">
                <a:solidFill>
                  <a:srgbClr val="576873"/>
                </a:solidFill>
                <a:latin typeface="微软雅黑" panose="020B0503020204020204" charset="-122"/>
                <a:ea typeface="微软雅黑" panose="020B0503020204020204" charset="-122"/>
                <a:cs typeface="微软雅黑" panose="020B0503020204020204" charset="-122"/>
              </a:rPr>
              <a:t>Sprint 1 实现日志录入、保存与双端授权查询。任务派发和进度管理安排至 Sprint 2。</a:t>
            </a:r>
            <a:endParaRPr sz="187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7" name="text-115"/>
          <p:cNvSpPr>
            <a:spLocks noGrp="1"/>
          </p:cNvSpPr>
          <p:nvPr/>
        </p:nvSpPr>
        <p:spPr>
          <a:xfrm>
            <a:off x="628650" y="2819400"/>
            <a:ext cx="685800" cy="457200"/>
          </a:xfrm>
          <a:prstGeom prst="rect">
            <a:avLst/>
          </a:prstGeom>
          <a:noFill/>
          <a:ln w="0">
            <a:noFill/>
          </a:ln>
        </p:spPr>
        <p:txBody>
          <a:bodyPr>
            <a:noAutofit/>
          </a:bodyPr>
          <a:lstStyle/>
          <a:p>
            <a:pPr algn="l">
              <a:defRPr sz="2475" b="1">
                <a:solidFill>
                  <a:srgbClr val="087F82"/>
                </a:solidFill>
                <a:latin typeface="微软雅黑" panose="020B0503020204020204" charset="-122"/>
                <a:ea typeface="微软雅黑" panose="020B0503020204020204" charset="-122"/>
                <a:cs typeface="微软雅黑" panose="020B0503020204020204" charset="-122"/>
              </a:defRPr>
            </a:pPr>
            <a:r>
              <a:rPr sz="2475" b="1">
                <a:solidFill>
                  <a:srgbClr val="087F82"/>
                </a:solidFill>
                <a:latin typeface="微软雅黑" panose="020B0503020204020204" charset="-122"/>
                <a:ea typeface="微软雅黑" panose="020B0503020204020204" charset="-122"/>
                <a:cs typeface="微软雅黑" panose="020B0503020204020204" charset="-122"/>
              </a:rPr>
              <a:t>02</a:t>
            </a:r>
            <a:endParaRPr sz="247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8" name="text-116"/>
          <p:cNvSpPr>
            <a:spLocks noGrp="1"/>
          </p:cNvSpPr>
          <p:nvPr/>
        </p:nvSpPr>
        <p:spPr>
          <a:xfrm>
            <a:off x="1485900" y="2819400"/>
            <a:ext cx="9620250" cy="409575"/>
          </a:xfrm>
          <a:prstGeom prst="rect">
            <a:avLst/>
          </a:prstGeom>
          <a:noFill/>
          <a:ln w="0">
            <a:noFill/>
          </a:ln>
        </p:spPr>
        <p:txBody>
          <a:bodyPr>
            <a:noAutofit/>
          </a:bodyPr>
          <a:lstStyle/>
          <a:p>
            <a:pPr algn="l">
              <a:defRPr sz="2175" b="1">
                <a:solidFill>
                  <a:srgbClr val="172D3B"/>
                </a:solidFill>
                <a:latin typeface="微软雅黑" panose="020B0503020204020204" charset="-122"/>
                <a:ea typeface="微软雅黑" panose="020B0503020204020204" charset="-122"/>
                <a:cs typeface="微软雅黑" panose="020B0503020204020204" charset="-122"/>
              </a:defRPr>
            </a:pPr>
            <a:r>
              <a:rPr sz="2175" b="1">
                <a:solidFill>
                  <a:srgbClr val="172D3B"/>
                </a:solidFill>
                <a:latin typeface="微软雅黑" panose="020B0503020204020204" charset="-122"/>
                <a:ea typeface="微软雅黑" panose="020B0503020204020204" charset="-122"/>
                <a:cs typeface="微软雅黑" panose="020B0503020204020204" charset="-122"/>
              </a:rPr>
              <a:t>需求与接口同步</a:t>
            </a:r>
            <a:endParaRPr sz="217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9" name="text-117"/>
          <p:cNvSpPr>
            <a:spLocks noGrp="1"/>
          </p:cNvSpPr>
          <p:nvPr/>
        </p:nvSpPr>
        <p:spPr>
          <a:xfrm>
            <a:off x="1485900" y="3295650"/>
            <a:ext cx="9620250" cy="619125"/>
          </a:xfrm>
          <a:prstGeom prst="rect">
            <a:avLst/>
          </a:prstGeom>
          <a:noFill/>
          <a:ln w="0">
            <a:noFill/>
          </a:ln>
        </p:spPr>
        <p:txBody>
          <a:bodyPr>
            <a:noAutofit/>
          </a:bodyPr>
          <a:lstStyle/>
          <a:p>
            <a:pPr algn="l">
              <a:defRPr sz="1875" b="0">
                <a:solidFill>
                  <a:srgbClr val="576873"/>
                </a:solidFill>
                <a:latin typeface="微软雅黑" panose="020B0503020204020204" charset="-122"/>
                <a:ea typeface="微软雅黑" panose="020B0503020204020204" charset="-122"/>
                <a:cs typeface="微软雅黑" panose="020B0503020204020204" charset="-122"/>
              </a:defRPr>
            </a:pPr>
            <a:r>
              <a:rPr sz="1875" b="0">
                <a:solidFill>
                  <a:srgbClr val="576873"/>
                </a:solidFill>
                <a:latin typeface="微软雅黑" panose="020B0503020204020204" charset="-122"/>
                <a:ea typeface="微软雅黑" panose="020B0503020204020204" charset="-122"/>
                <a:cs typeface="微软雅黑" panose="020B0503020204020204" charset="-122"/>
              </a:rPr>
              <a:t>将已确定的功能范围、日志修改规则和组织权限同步至产品文档、Backlog 与 OpenSpec。</a:t>
            </a:r>
            <a:endParaRPr sz="187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10" name="text-118"/>
          <p:cNvSpPr>
            <a:spLocks noGrp="1"/>
          </p:cNvSpPr>
          <p:nvPr/>
        </p:nvSpPr>
        <p:spPr>
          <a:xfrm>
            <a:off x="628650" y="3924300"/>
            <a:ext cx="685800" cy="457200"/>
          </a:xfrm>
          <a:prstGeom prst="rect">
            <a:avLst/>
          </a:prstGeom>
          <a:noFill/>
          <a:ln w="0">
            <a:noFill/>
          </a:ln>
        </p:spPr>
        <p:txBody>
          <a:bodyPr>
            <a:noAutofit/>
          </a:bodyPr>
          <a:lstStyle/>
          <a:p>
            <a:pPr algn="l">
              <a:defRPr sz="2475" b="1">
                <a:solidFill>
                  <a:srgbClr val="087F82"/>
                </a:solidFill>
                <a:latin typeface="微软雅黑" panose="020B0503020204020204" charset="-122"/>
                <a:ea typeface="微软雅黑" panose="020B0503020204020204" charset="-122"/>
                <a:cs typeface="微软雅黑" panose="020B0503020204020204" charset="-122"/>
              </a:defRPr>
            </a:pPr>
            <a:r>
              <a:rPr sz="2475" b="1">
                <a:solidFill>
                  <a:srgbClr val="087F82"/>
                </a:solidFill>
                <a:latin typeface="微软雅黑" panose="020B0503020204020204" charset="-122"/>
                <a:ea typeface="微软雅黑" panose="020B0503020204020204" charset="-122"/>
                <a:cs typeface="微软雅黑" panose="020B0503020204020204" charset="-122"/>
              </a:rPr>
              <a:t>03</a:t>
            </a:r>
            <a:endParaRPr sz="247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11" name="text-119"/>
          <p:cNvSpPr>
            <a:spLocks noGrp="1"/>
          </p:cNvSpPr>
          <p:nvPr/>
        </p:nvSpPr>
        <p:spPr>
          <a:xfrm>
            <a:off x="1485900" y="3924300"/>
            <a:ext cx="9620250" cy="409575"/>
          </a:xfrm>
          <a:prstGeom prst="rect">
            <a:avLst/>
          </a:prstGeom>
          <a:noFill/>
          <a:ln w="0">
            <a:noFill/>
          </a:ln>
        </p:spPr>
        <p:txBody>
          <a:bodyPr>
            <a:noAutofit/>
          </a:bodyPr>
          <a:lstStyle/>
          <a:p>
            <a:pPr algn="l">
              <a:defRPr sz="2175" b="1">
                <a:solidFill>
                  <a:srgbClr val="172D3B"/>
                </a:solidFill>
                <a:latin typeface="微软雅黑" panose="020B0503020204020204" charset="-122"/>
                <a:ea typeface="微软雅黑" panose="020B0503020204020204" charset="-122"/>
                <a:cs typeface="微软雅黑" panose="020B0503020204020204" charset="-122"/>
              </a:defRPr>
            </a:pPr>
            <a:r>
              <a:rPr sz="2175" b="1">
                <a:solidFill>
                  <a:srgbClr val="172D3B"/>
                </a:solidFill>
                <a:latin typeface="微软雅黑" panose="020B0503020204020204" charset="-122"/>
                <a:ea typeface="微软雅黑" panose="020B0503020204020204" charset="-122"/>
                <a:cs typeface="微软雅黑" panose="020B0503020204020204" charset="-122"/>
              </a:rPr>
              <a:t>协作与任务落实</a:t>
            </a:r>
            <a:endParaRPr sz="217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12" name="text-120"/>
          <p:cNvSpPr>
            <a:spLocks noGrp="1"/>
          </p:cNvSpPr>
          <p:nvPr/>
        </p:nvSpPr>
        <p:spPr>
          <a:xfrm>
            <a:off x="1485900" y="4400550"/>
            <a:ext cx="9620250" cy="619125"/>
          </a:xfrm>
          <a:prstGeom prst="rect">
            <a:avLst/>
          </a:prstGeom>
          <a:noFill/>
          <a:ln w="0">
            <a:noFill/>
          </a:ln>
        </p:spPr>
        <p:txBody>
          <a:bodyPr>
            <a:noAutofit/>
          </a:bodyPr>
          <a:lstStyle/>
          <a:p>
            <a:pPr algn="l">
              <a:defRPr sz="1875" b="0">
                <a:solidFill>
                  <a:srgbClr val="576873"/>
                </a:solidFill>
                <a:latin typeface="微软雅黑" panose="020B0503020204020204" charset="-122"/>
                <a:ea typeface="微软雅黑" panose="020B0503020204020204" charset="-122"/>
                <a:cs typeface="微软雅黑" panose="020B0503020204020204" charset="-122"/>
              </a:defRPr>
            </a:pPr>
            <a:r>
              <a:rPr sz="1875" b="0">
                <a:solidFill>
                  <a:srgbClr val="576873"/>
                </a:solidFill>
                <a:latin typeface="微软雅黑" panose="020B0503020204020204" charset="-122"/>
                <a:ea typeface="微软雅黑" panose="020B0503020204020204" charset="-122"/>
                <a:cs typeface="微软雅黑" panose="020B0503020204020204" charset="-122"/>
              </a:rPr>
              <a:t>完善飞书看板，明确任务负责人、Sprint、change/task 和完成证据，持续保留 PR 审阅记录。</a:t>
            </a:r>
            <a:endParaRPr sz="1875" b="0">
              <a:solidFill>
                <a:srgbClr val="576873"/>
              </a:solidFill>
              <a:latin typeface="微软雅黑" panose="020B0503020204020204" charset="-122"/>
              <a:ea typeface="微软雅黑" panose="020B0503020204020204" charset="-122"/>
              <a:cs typeface="微软雅黑" panose="020B0503020204020204" charset="-122"/>
            </a:endParaRPr>
          </a:p>
        </p:txBody>
      </p:sp>
      <p:sp>
        <p:nvSpPr>
          <p:cNvPr id="13" name="text-121"/>
          <p:cNvSpPr>
            <a:spLocks noGrp="1"/>
          </p:cNvSpPr>
          <p:nvPr/>
        </p:nvSpPr>
        <p:spPr>
          <a:xfrm>
            <a:off x="628650" y="5029200"/>
            <a:ext cx="685800" cy="457200"/>
          </a:xfrm>
          <a:prstGeom prst="rect">
            <a:avLst/>
          </a:prstGeom>
          <a:noFill/>
          <a:ln w="0">
            <a:noFill/>
          </a:ln>
        </p:spPr>
        <p:txBody>
          <a:bodyPr>
            <a:noAutofit/>
          </a:bodyPr>
          <a:lstStyle/>
          <a:p>
            <a:pPr algn="l">
              <a:defRPr sz="2475" b="1">
                <a:solidFill>
                  <a:srgbClr val="087F82"/>
                </a:solidFill>
                <a:latin typeface="微软雅黑" panose="020B0503020204020204" charset="-122"/>
                <a:ea typeface="微软雅黑" panose="020B0503020204020204" charset="-122"/>
                <a:cs typeface="微软雅黑" panose="020B0503020204020204" charset="-122"/>
              </a:defRPr>
            </a:pPr>
            <a:r>
              <a:rPr sz="2475" b="1">
                <a:solidFill>
                  <a:srgbClr val="087F82"/>
                </a:solidFill>
                <a:latin typeface="微软雅黑" panose="020B0503020204020204" charset="-122"/>
                <a:ea typeface="微软雅黑" panose="020B0503020204020204" charset="-122"/>
                <a:cs typeface="微软雅黑" panose="020B0503020204020204" charset="-122"/>
              </a:rPr>
              <a:t>04</a:t>
            </a:r>
            <a:endParaRPr sz="2475" b="1">
              <a:solidFill>
                <a:srgbClr val="087F82"/>
              </a:solidFill>
              <a:latin typeface="微软雅黑" panose="020B0503020204020204" charset="-122"/>
              <a:ea typeface="微软雅黑" panose="020B0503020204020204" charset="-122"/>
              <a:cs typeface="微软雅黑" panose="020B0503020204020204" charset="-122"/>
            </a:endParaRPr>
          </a:p>
        </p:txBody>
      </p:sp>
      <p:sp>
        <p:nvSpPr>
          <p:cNvPr id="14" name="text-122"/>
          <p:cNvSpPr>
            <a:spLocks noGrp="1"/>
          </p:cNvSpPr>
          <p:nvPr/>
        </p:nvSpPr>
        <p:spPr>
          <a:xfrm>
            <a:off x="1485900" y="5029200"/>
            <a:ext cx="9620250" cy="409575"/>
          </a:xfrm>
          <a:prstGeom prst="rect">
            <a:avLst/>
          </a:prstGeom>
          <a:noFill/>
          <a:ln w="0">
            <a:noFill/>
          </a:ln>
        </p:spPr>
        <p:txBody>
          <a:bodyPr>
            <a:noAutofit/>
          </a:bodyPr>
          <a:lstStyle/>
          <a:p>
            <a:pPr algn="l">
              <a:defRPr sz="2175" b="1">
                <a:solidFill>
                  <a:srgbClr val="172D3B"/>
                </a:solidFill>
                <a:latin typeface="微软雅黑" panose="020B0503020204020204" charset="-122"/>
                <a:ea typeface="微软雅黑" panose="020B0503020204020204" charset="-122"/>
                <a:cs typeface="微软雅黑" panose="020B0503020204020204" charset="-122"/>
              </a:defRPr>
            </a:pPr>
            <a:r>
              <a:rPr sz="2175" b="1">
                <a:solidFill>
                  <a:srgbClr val="172D3B"/>
                </a:solidFill>
                <a:latin typeface="微软雅黑" panose="020B0503020204020204" charset="-122"/>
                <a:ea typeface="微软雅黑" panose="020B0503020204020204" charset="-122"/>
                <a:cs typeface="微软雅黑" panose="020B0503020204020204" charset="-122"/>
              </a:rPr>
              <a:t>开发与验收准备</a:t>
            </a:r>
            <a:endParaRPr sz="2175" b="1">
              <a:solidFill>
                <a:srgbClr val="172D3B"/>
              </a:solidFill>
              <a:latin typeface="微软雅黑" panose="020B0503020204020204" charset="-122"/>
              <a:ea typeface="微软雅黑" panose="020B0503020204020204" charset="-122"/>
              <a:cs typeface="微软雅黑" panose="020B0503020204020204" charset="-122"/>
            </a:endParaRPr>
          </a:p>
        </p:txBody>
      </p:sp>
      <p:sp>
        <p:nvSpPr>
          <p:cNvPr id="15" name="text-123"/>
          <p:cNvSpPr>
            <a:spLocks noGrp="1"/>
          </p:cNvSpPr>
          <p:nvPr/>
        </p:nvSpPr>
        <p:spPr>
          <a:xfrm>
            <a:off x="1485900" y="5505450"/>
            <a:ext cx="9620250" cy="619125"/>
          </a:xfrm>
          <a:prstGeom prst="rect">
            <a:avLst/>
          </a:prstGeom>
          <a:noFill/>
          <a:ln w="0">
            <a:noFill/>
          </a:ln>
        </p:spPr>
        <p:txBody>
          <a:bodyPr>
            <a:noAutofit/>
          </a:bodyPr>
          <a:lstStyle/>
          <a:p>
            <a:pPr algn="l">
              <a:defRPr sz="1875" b="0">
                <a:solidFill>
                  <a:srgbClr val="576873"/>
                </a:solidFill>
                <a:latin typeface="微软雅黑" panose="020B0503020204020204" charset="-122"/>
                <a:ea typeface="微软雅黑" panose="020B0503020204020204" charset="-122"/>
                <a:cs typeface="微软雅黑" panose="020B0503020204020204" charset="-122"/>
              </a:defRPr>
            </a:pPr>
            <a:r>
              <a:rPr sz="1875" b="0">
                <a:solidFill>
                  <a:srgbClr val="576873"/>
                </a:solidFill>
                <a:latin typeface="微软雅黑" panose="020B0503020204020204" charset="-122"/>
                <a:ea typeface="微软雅黑" panose="020B0503020204020204" charset="-122"/>
                <a:cs typeface="微软雅黑" panose="020B0503020204020204" charset="-122"/>
              </a:rPr>
              <a:t>细化核心接口与数据库约束，建立正常、异常及越权测试用例，准备 Android 与 Web 联调。</a:t>
            </a:r>
            <a:endParaRPr sz="1875" b="0">
              <a:solidFill>
                <a:srgbClr val="57687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2959</Words>
  <Application>WPS 演示</Application>
  <PresentationFormat>Converted Presentation</PresentationFormat>
  <Paragraphs>418</Paragraphs>
  <Slides>12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Arial</vt:lpstr>
      <vt:lpstr>宋体</vt:lpstr>
      <vt:lpstr>Wingdings</vt:lpstr>
      <vt:lpstr>微软雅黑</vt:lpstr>
      <vt:lpstr>Arial Unicode MS</vt:lpstr>
      <vt:lpstr>Aptos</vt:lpstr>
      <vt:lpstr>Segoe UI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莫</cp:lastModifiedBy>
  <cp:revision>1</cp:revision>
  <dcterms:created xsi:type="dcterms:W3CDTF">2026-09-24T13:50:04Z</dcterms:created>
  <dcterms:modified xsi:type="dcterms:W3CDTF">2026-09-24T13:50:04Z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DDDBDF0B4E34426F8AB9365FAB1FD5C4_12</vt:lpwstr>
  </property>
</Properties>
</file>